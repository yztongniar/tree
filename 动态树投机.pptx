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23"/>
  </p:notesMasterIdLst>
  <p:handoutMasterIdLst>
    <p:handoutMasterId r:id="rId24"/>
  </p:handoutMasterIdLst>
  <p:sldIdLst>
    <p:sldId id="283" r:id="rId5"/>
    <p:sldId id="292" r:id="rId6"/>
    <p:sldId id="308" r:id="rId7"/>
    <p:sldId id="307" r:id="rId8"/>
    <p:sldId id="309" r:id="rId9"/>
    <p:sldId id="310" r:id="rId10"/>
    <p:sldId id="311" r:id="rId11"/>
    <p:sldId id="313" r:id="rId12"/>
    <p:sldId id="312" r:id="rId13"/>
    <p:sldId id="315" r:id="rId14"/>
    <p:sldId id="316" r:id="rId15"/>
    <p:sldId id="317" r:id="rId16"/>
    <p:sldId id="318" r:id="rId17"/>
    <p:sldId id="319" r:id="rId18"/>
    <p:sldId id="321" r:id="rId19"/>
    <p:sldId id="320" r:id="rId20"/>
    <p:sldId id="314" r:id="rId21"/>
    <p:sldId id="280" r:id="rId22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92"/>
          </p14:sldIdLst>
        </p14:section>
        <p14:section name="章节页" id="{FD05EE94-C931-8C4B-83A2-004B32AA1207}">
          <p14:sldIdLst>
            <p14:sldId id="308"/>
            <p14:sldId id="307"/>
            <p14:sldId id="309"/>
            <p14:sldId id="310"/>
            <p14:sldId id="311"/>
            <p14:sldId id="313"/>
            <p14:sldId id="312"/>
            <p14:sldId id="315"/>
            <p14:sldId id="316"/>
            <p14:sldId id="317"/>
            <p14:sldId id="318"/>
            <p14:sldId id="319"/>
            <p14:sldId id="321"/>
            <p14:sldId id="320"/>
            <p14:sldId id="314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EE4EA"/>
    <a:srgbClr val="FFE5EA"/>
    <a:srgbClr val="C7020E"/>
    <a:srgbClr val="000000"/>
    <a:srgbClr val="E9002F"/>
    <a:srgbClr val="595757"/>
    <a:srgbClr val="221815"/>
    <a:srgbClr val="888888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106" d="100"/>
          <a:sy n="106" d="100"/>
        </p:scale>
        <p:origin x="7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/>
          <a:lstStyle/>
          <a:p>
            <a:r>
              <a:rPr lang="zh-CN" altLang="en-US" dirty="0"/>
              <a:t>部门：</a:t>
            </a:r>
            <a:endParaRPr lang="en-US" altLang="zh-CN" dirty="0"/>
          </a:p>
          <a:p>
            <a:r>
              <a:rPr lang="zh-CN" altLang="en-US" dirty="0"/>
              <a:t>作者：</a:t>
            </a:r>
            <a:endParaRPr lang="en-US" altLang="zh-CN" dirty="0"/>
          </a:p>
          <a:p>
            <a:r>
              <a:rPr lang="zh-CN" altLang="en-US" dirty="0"/>
              <a:t>日期：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566F3-A3A5-4146-9236-C652EFF2FB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Security Level: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0D792-4102-9E49-9911-6FCBEA89B2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455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B8C22D09-9AAB-41B0-997B-6AED0878766D}"/>
              </a:ext>
            </a:extLst>
          </p:cNvPr>
          <p:cNvSpPr/>
          <p:nvPr/>
        </p:nvSpPr>
        <p:spPr>
          <a:xfrm>
            <a:off x="339263" y="828744"/>
            <a:ext cx="1187116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eagle_workerV2</a:t>
            </a:r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BB9FD71-9A89-4A4E-992C-D2E508D32238}"/>
              </a:ext>
            </a:extLst>
          </p:cNvPr>
          <p:cNvSpPr/>
          <p:nvPr/>
        </p:nvSpPr>
        <p:spPr>
          <a:xfrm>
            <a:off x="1718889" y="1224947"/>
            <a:ext cx="133149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EagleWorkerV2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self.forward_batch_generation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A8BD902-3E42-4502-BD53-9992F63AAC77}"/>
              </a:ext>
            </a:extLst>
          </p:cNvPr>
          <p:cNvSpPr/>
          <p:nvPr/>
        </p:nvSpPr>
        <p:spPr>
          <a:xfrm>
            <a:off x="1718888" y="1946842"/>
            <a:ext cx="133149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EagleDraftWorker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self.draft_worker.draft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C32ECD2-0C04-4FB5-911B-4123579F77E6}"/>
              </a:ext>
            </a:extLst>
          </p:cNvPr>
          <p:cNvSpPr/>
          <p:nvPr/>
        </p:nvSpPr>
        <p:spPr>
          <a:xfrm>
            <a:off x="1718887" y="3097863"/>
            <a:ext cx="133149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self.verify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296430-BCFA-4675-AD28-06333BE73379}"/>
              </a:ext>
            </a:extLst>
          </p:cNvPr>
          <p:cNvSpPr txBox="1"/>
          <p:nvPr/>
        </p:nvSpPr>
        <p:spPr>
          <a:xfrm>
            <a:off x="2755982" y="2512901"/>
            <a:ext cx="1553704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传递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EagleVerifyInput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16CE30E-BFE5-42F7-828B-B4BBB637F8D8}"/>
              </a:ext>
            </a:extLst>
          </p:cNvPr>
          <p:cNvSpPr/>
          <p:nvPr/>
        </p:nvSpPr>
        <p:spPr>
          <a:xfrm>
            <a:off x="3577390" y="1946842"/>
            <a:ext cx="1253664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prepare_for_draft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5B66698-7877-42F3-8FA4-E08AAB7400C3}"/>
              </a:ext>
            </a:extLst>
          </p:cNvPr>
          <p:cNvSpPr/>
          <p:nvPr/>
        </p:nvSpPr>
        <p:spPr>
          <a:xfrm>
            <a:off x="5037221" y="1946842"/>
            <a:ext cx="1253664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draft_forward</a:t>
            </a:r>
          </a:p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多步生成</a:t>
            </a:r>
            <a:r>
              <a:rPr lang="en-US" altLang="zh-CN" sz="1100" dirty="0">
                <a:solidFill>
                  <a:schemeClr val="tx1"/>
                </a:solidFill>
              </a:rPr>
              <a:t>draft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DA53945-F8DF-49EB-BE14-9944CE279923}"/>
              </a:ext>
            </a:extLst>
          </p:cNvPr>
          <p:cNvSpPr/>
          <p:nvPr/>
        </p:nvSpPr>
        <p:spPr>
          <a:xfrm>
            <a:off x="6772147" y="1481619"/>
            <a:ext cx="2037347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_select_top_k_token_first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0E32FDB-A1F6-4679-97B7-A6AFC0C7BAD3}"/>
              </a:ext>
            </a:extLst>
          </p:cNvPr>
          <p:cNvSpPr/>
          <p:nvPr/>
        </p:nvSpPr>
        <p:spPr>
          <a:xfrm>
            <a:off x="6772146" y="2460187"/>
            <a:ext cx="2037347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_select_top_k_token_later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75DA79-D106-4A88-96BA-9C670DDAA936}"/>
              </a:ext>
            </a:extLst>
          </p:cNvPr>
          <p:cNvSpPr/>
          <p:nvPr/>
        </p:nvSpPr>
        <p:spPr>
          <a:xfrm>
            <a:off x="9114295" y="1206625"/>
            <a:ext cx="1363579" cy="21884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Topk_p(b,1,k)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EF7440-4C08-43C4-99EB-C896B8D619CA}"/>
              </a:ext>
            </a:extLst>
          </p:cNvPr>
          <p:cNvSpPr/>
          <p:nvPr/>
        </p:nvSpPr>
        <p:spPr>
          <a:xfrm>
            <a:off x="9114295" y="1507416"/>
            <a:ext cx="1363579" cy="21884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Topk_index(b,k)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171CA39-41F1-460E-9795-F47B783AC96C}"/>
              </a:ext>
            </a:extLst>
          </p:cNvPr>
          <p:cNvSpPr/>
          <p:nvPr/>
        </p:nvSpPr>
        <p:spPr>
          <a:xfrm>
            <a:off x="9114295" y="1808207"/>
            <a:ext cx="1363579" cy="21884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Parents_info(b,k+1)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1B22F20-16F2-4EE0-A87C-AD492ED5900E}"/>
              </a:ext>
            </a:extLst>
          </p:cNvPr>
          <p:cNvSpPr/>
          <p:nvPr/>
        </p:nvSpPr>
        <p:spPr>
          <a:xfrm>
            <a:off x="9114295" y="2347889"/>
            <a:ext cx="1363579" cy="21884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Topk_p(b,k,k)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F6449ED-CCAE-4ABD-9F9C-AB2272B1A17A}"/>
              </a:ext>
            </a:extLst>
          </p:cNvPr>
          <p:cNvSpPr/>
          <p:nvPr/>
        </p:nvSpPr>
        <p:spPr>
          <a:xfrm>
            <a:off x="9114295" y="2648680"/>
            <a:ext cx="1363579" cy="21884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Topk_index(b,k</a:t>
            </a:r>
            <a:r>
              <a:rPr lang="en-US" altLang="zh-CN" sz="1050" baseline="30000" dirty="0">
                <a:solidFill>
                  <a:schemeClr val="tx1"/>
                </a:solidFill>
              </a:rPr>
              <a:t>2</a:t>
            </a:r>
            <a:r>
              <a:rPr lang="en-US" altLang="zh-CN" sz="1050" dirty="0">
                <a:solidFill>
                  <a:schemeClr val="tx1"/>
                </a:solidFill>
              </a:rPr>
              <a:t>)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6DC988-66AB-4AA0-B599-1F1B2CB4C590}"/>
              </a:ext>
            </a:extLst>
          </p:cNvPr>
          <p:cNvSpPr/>
          <p:nvPr/>
        </p:nvSpPr>
        <p:spPr>
          <a:xfrm>
            <a:off x="9114295" y="2949471"/>
            <a:ext cx="1363579" cy="21884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Parents_info(b,k)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240D699-35D2-498D-B2DE-49817063326B}"/>
              </a:ext>
            </a:extLst>
          </p:cNvPr>
          <p:cNvSpPr txBox="1"/>
          <p:nvPr/>
        </p:nvSpPr>
        <p:spPr>
          <a:xfrm>
            <a:off x="6437639" y="1696932"/>
            <a:ext cx="48126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 = 0</a:t>
            </a:r>
            <a:endParaRPr kumimoji="1" lang="zh-CN" altLang="en-US" sz="1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2AAE201-AABE-4F21-B360-AD2D8A7FE071}"/>
              </a:ext>
            </a:extLst>
          </p:cNvPr>
          <p:cNvSpPr txBox="1"/>
          <p:nvPr/>
        </p:nvSpPr>
        <p:spPr>
          <a:xfrm>
            <a:off x="6460515" y="2532859"/>
            <a:ext cx="48126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 &gt; 0</a:t>
            </a:r>
            <a:endParaRPr kumimoji="1" lang="zh-CN" altLang="en-US" sz="1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869373A-6D7A-4E77-9A69-8F333FBAD85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3050379" y="2191484"/>
            <a:ext cx="5270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CF19889-23D5-487C-AC99-A468C0CB42BB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4831054" y="2191484"/>
            <a:ext cx="2061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11C4C97-8D83-4AFA-9D93-33F8B4B5DA78}"/>
              </a:ext>
            </a:extLst>
          </p:cNvPr>
          <p:cNvSpPr/>
          <p:nvPr/>
        </p:nvSpPr>
        <p:spPr>
          <a:xfrm>
            <a:off x="4354244" y="2680768"/>
            <a:ext cx="1253664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构建</a:t>
            </a:r>
            <a:r>
              <a:rPr lang="en-US" altLang="zh-CN" sz="1100" dirty="0">
                <a:solidFill>
                  <a:schemeClr val="tx1"/>
                </a:solidFill>
              </a:rPr>
              <a:t>EagleVerifyInput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289075A-2F50-456D-824A-680FF28CE133}"/>
              </a:ext>
            </a:extLst>
          </p:cNvPr>
          <p:cNvCxnSpPr>
            <a:stCxn id="12" idx="2"/>
            <a:endCxn id="30" idx="0"/>
          </p:cNvCxnSpPr>
          <p:nvPr/>
        </p:nvCxnSpPr>
        <p:spPr>
          <a:xfrm flipH="1">
            <a:off x="4981076" y="2436126"/>
            <a:ext cx="682977" cy="2446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EA1B7C33-7D36-4219-9136-FB09C762C629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2384634" y="1714231"/>
            <a:ext cx="1" cy="2326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0F1F3FDE-2784-42BB-81D1-79E7850F7FFD}"/>
              </a:ext>
            </a:extLst>
          </p:cNvPr>
          <p:cNvSpPr txBox="1"/>
          <p:nvPr/>
        </p:nvSpPr>
        <p:spPr>
          <a:xfrm>
            <a:off x="4375923" y="3279818"/>
            <a:ext cx="1861039" cy="11310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kumimoji="1" lang="en-US" altLang="zh-CN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build_tree_kernel_efficient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接口构建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tree_mask, position, retrive_index, retrive_next_token, retrive_next_sibling, draft_tokens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324AE923-190A-4450-9606-DE3F669000FC}"/>
              </a:ext>
            </a:extLst>
          </p:cNvPr>
          <p:cNvCxnSpPr>
            <a:cxnSpLocks/>
            <a:stCxn id="30" idx="1"/>
            <a:endCxn id="7" idx="0"/>
          </p:cNvCxnSpPr>
          <p:nvPr/>
        </p:nvCxnSpPr>
        <p:spPr>
          <a:xfrm rot="10800000" flipV="1">
            <a:off x="2384634" y="2925409"/>
            <a:ext cx="1969611" cy="1724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33E23EA3-5CF2-425C-9503-7505F67F9BD0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6290885" y="1726261"/>
            <a:ext cx="481262" cy="46522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D2C4498D-B555-4E53-8BE0-FF0AAEFB853F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6290885" y="2191484"/>
            <a:ext cx="481261" cy="51334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020E39C1-C303-468A-8A62-DF8177CFE1ED}"/>
              </a:ext>
            </a:extLst>
          </p:cNvPr>
          <p:cNvSpPr/>
          <p:nvPr/>
        </p:nvSpPr>
        <p:spPr>
          <a:xfrm>
            <a:off x="1718889" y="3813474"/>
            <a:ext cx="133149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run_eagle_verify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E1429AB0-1157-4595-A445-5043557387CA}"/>
              </a:ext>
            </a:extLst>
          </p:cNvPr>
          <p:cNvSpPr/>
          <p:nvPr/>
        </p:nvSpPr>
        <p:spPr>
          <a:xfrm>
            <a:off x="1718889" y="4726137"/>
            <a:ext cx="133149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forward_batch_generation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9997B7A-A7F9-43FA-80CD-EA4847FCCFE2}"/>
              </a:ext>
            </a:extLst>
          </p:cNvPr>
          <p:cNvCxnSpPr>
            <a:stCxn id="7" idx="2"/>
            <a:endCxn id="49" idx="0"/>
          </p:cNvCxnSpPr>
          <p:nvPr/>
        </p:nvCxnSpPr>
        <p:spPr>
          <a:xfrm>
            <a:off x="2384633" y="3587147"/>
            <a:ext cx="2" cy="226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42EAA7F1-B37D-4D58-A58E-8E1D2FE78115}"/>
              </a:ext>
            </a:extLst>
          </p:cNvPr>
          <p:cNvCxnSpPr>
            <a:stCxn id="49" idx="2"/>
            <a:endCxn id="55" idx="0"/>
          </p:cNvCxnSpPr>
          <p:nvPr/>
        </p:nvCxnSpPr>
        <p:spPr>
          <a:xfrm>
            <a:off x="2384635" y="4302758"/>
            <a:ext cx="0" cy="423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C9A3E32-9C87-4780-AEB0-AC15AAF4D091}"/>
              </a:ext>
            </a:extLst>
          </p:cNvPr>
          <p:cNvSpPr txBox="1"/>
          <p:nvPr/>
        </p:nvSpPr>
        <p:spPr>
          <a:xfrm>
            <a:off x="966097" y="4396856"/>
            <a:ext cx="166273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verify_forward_batch</a:t>
            </a:r>
            <a:endParaRPr kumimoji="1" lang="zh-CN" altLang="en-US" sz="1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23ADA7F6-A41F-4A03-8AAA-F912EBEB0ACA}"/>
              </a:ext>
            </a:extLst>
          </p:cNvPr>
          <p:cNvSpPr/>
          <p:nvPr/>
        </p:nvSpPr>
        <p:spPr>
          <a:xfrm>
            <a:off x="1718889" y="5446065"/>
            <a:ext cx="133149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model_runner.forward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3AD8A5E-7FA1-484F-8E05-8AD177C203D8}"/>
              </a:ext>
            </a:extLst>
          </p:cNvPr>
          <p:cNvCxnSpPr>
            <a:stCxn id="55" idx="2"/>
            <a:endCxn id="61" idx="0"/>
          </p:cNvCxnSpPr>
          <p:nvPr/>
        </p:nvCxnSpPr>
        <p:spPr>
          <a:xfrm>
            <a:off x="2384635" y="5215421"/>
            <a:ext cx="0" cy="230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11E37B48-90AA-49BD-A4AA-14A44F8A1D2D}"/>
              </a:ext>
            </a:extLst>
          </p:cNvPr>
          <p:cNvSpPr/>
          <p:nvPr/>
        </p:nvSpPr>
        <p:spPr>
          <a:xfrm>
            <a:off x="3369439" y="5446065"/>
            <a:ext cx="133149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model_runner._forward_row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AB8A7987-0D4E-4A47-93CE-7CA3D8F9CAD2}"/>
              </a:ext>
            </a:extLst>
          </p:cNvPr>
          <p:cNvSpPr/>
          <p:nvPr/>
        </p:nvSpPr>
        <p:spPr>
          <a:xfrm>
            <a:off x="5019989" y="5445835"/>
            <a:ext cx="133149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prefillCudaGraphRunner._execute_body_capture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0EEA034D-0E9D-4052-B5B7-96318A8487EB}"/>
              </a:ext>
            </a:extLst>
          </p:cNvPr>
          <p:cNvSpPr/>
          <p:nvPr/>
        </p:nvSpPr>
        <p:spPr>
          <a:xfrm>
            <a:off x="6670537" y="5445835"/>
            <a:ext cx="133149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model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50345C41-CA6F-48DF-BA77-C2C53F88B5CC}"/>
              </a:ext>
            </a:extLst>
          </p:cNvPr>
          <p:cNvSpPr/>
          <p:nvPr/>
        </p:nvSpPr>
        <p:spPr>
          <a:xfrm>
            <a:off x="8321085" y="5447880"/>
            <a:ext cx="133149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100" dirty="0">
              <a:solidFill>
                <a:schemeClr val="tx1"/>
              </a:solidFill>
            </a:endParaRPr>
          </a:p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FA</a:t>
            </a:r>
          </a:p>
          <a:p>
            <a:pPr algn="ctr"/>
            <a:endParaRPr lang="zh-CN" altLang="en-US" sz="1100" dirty="0">
              <a:solidFill>
                <a:schemeClr val="tx1"/>
              </a:solidFill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E2418625-CFEF-406D-BF4C-2B963B0B60CB}"/>
              </a:ext>
            </a:extLst>
          </p:cNvPr>
          <p:cNvCxnSpPr>
            <a:stCxn id="61" idx="3"/>
            <a:endCxn id="64" idx="1"/>
          </p:cNvCxnSpPr>
          <p:nvPr/>
        </p:nvCxnSpPr>
        <p:spPr>
          <a:xfrm>
            <a:off x="3050380" y="5690707"/>
            <a:ext cx="3190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CD5EE0E6-45ED-4E7E-9C12-FC0FFE22F2AB}"/>
              </a:ext>
            </a:extLst>
          </p:cNvPr>
          <p:cNvCxnSpPr>
            <a:stCxn id="64" idx="3"/>
            <a:endCxn id="65" idx="1"/>
          </p:cNvCxnSpPr>
          <p:nvPr/>
        </p:nvCxnSpPr>
        <p:spPr>
          <a:xfrm flipV="1">
            <a:off x="4700930" y="5690477"/>
            <a:ext cx="319059" cy="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587AC394-335B-4EE8-A2AF-8339C067CFB7}"/>
              </a:ext>
            </a:extLst>
          </p:cNvPr>
          <p:cNvCxnSpPr>
            <a:stCxn id="65" idx="3"/>
            <a:endCxn id="66" idx="1"/>
          </p:cNvCxnSpPr>
          <p:nvPr/>
        </p:nvCxnSpPr>
        <p:spPr>
          <a:xfrm>
            <a:off x="6351480" y="5690477"/>
            <a:ext cx="3190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C11E0B27-2D19-4946-B2FB-12014CC885C3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8002028" y="5690477"/>
            <a:ext cx="319057" cy="2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F4E641FD-CDF5-4B41-B335-733F140461D4}"/>
              </a:ext>
            </a:extLst>
          </p:cNvPr>
          <p:cNvSpPr txBox="1"/>
          <p:nvPr/>
        </p:nvSpPr>
        <p:spPr>
          <a:xfrm>
            <a:off x="8321085" y="5022966"/>
            <a:ext cx="23861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python/sglang/srt/layers/attention/flashinfer_mla_backend.py</a:t>
            </a:r>
            <a:endParaRPr kumimoji="1" lang="zh-CN" altLang="en-US" sz="1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副标题 1">
            <a:extLst>
              <a:ext uri="{FF2B5EF4-FFF2-40B4-BE49-F238E27FC236}">
                <a16:creationId xmlns:a16="http://schemas.microsoft.com/office/drawing/2014/main" id="{CB73F6BA-267A-4512-B643-46D37D6EA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733" y="71124"/>
            <a:ext cx="10740640" cy="675674"/>
          </a:xfrm>
        </p:spPr>
        <p:txBody>
          <a:bodyPr/>
          <a:lstStyle/>
          <a:p>
            <a:r>
              <a:rPr lang="en-US" altLang="zh-CN" b="1" dirty="0">
                <a:solidFill>
                  <a:srgbClr val="C7020E"/>
                </a:solidFill>
              </a:rPr>
              <a:t>SGLang  eagle</a:t>
            </a:r>
            <a:r>
              <a:rPr lang="zh-CN" altLang="en-US" b="1" dirty="0">
                <a:solidFill>
                  <a:srgbClr val="C7020E"/>
                </a:solidFill>
              </a:rPr>
              <a:t>投机推理调用流程</a:t>
            </a:r>
          </a:p>
        </p:txBody>
      </p:sp>
    </p:spTree>
    <p:extLst>
      <p:ext uri="{BB962C8B-B14F-4D97-AF65-F5344CB8AC3E}">
        <p14:creationId xmlns:p14="http://schemas.microsoft.com/office/powerpoint/2010/main" val="113771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AB830786-858C-46FB-87A0-DF3FBE3B4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12" y="111411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7020E"/>
                </a:solidFill>
              </a:rPr>
              <a:t>VLLM</a:t>
            </a:r>
            <a:r>
              <a:rPr lang="zh-CN" altLang="en-US" b="1" dirty="0">
                <a:solidFill>
                  <a:srgbClr val="C7020E"/>
                </a:solidFill>
              </a:rPr>
              <a:t>投机推理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76CD85C-3C01-4E3B-98C9-90B0C93EA4E9}"/>
              </a:ext>
            </a:extLst>
          </p:cNvPr>
          <p:cNvSpPr/>
          <p:nvPr/>
        </p:nvSpPr>
        <p:spPr>
          <a:xfrm>
            <a:off x="1534399" y="1870644"/>
            <a:ext cx="137724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prepare_inputs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DD5A7A-6A71-413F-8ED9-68B773D6D44D}"/>
              </a:ext>
            </a:extLst>
          </p:cNvPr>
          <p:cNvSpPr txBox="1"/>
          <p:nvPr/>
        </p:nvSpPr>
        <p:spPr>
          <a:xfrm>
            <a:off x="3112166" y="1986476"/>
            <a:ext cx="222985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draftToken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处理也在这个函数中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0804742-99CE-476C-98A4-283B8B2296AA}"/>
              </a:ext>
            </a:extLst>
          </p:cNvPr>
          <p:cNvSpPr/>
          <p:nvPr/>
        </p:nvSpPr>
        <p:spPr>
          <a:xfrm>
            <a:off x="1534398" y="2536396"/>
            <a:ext cx="137724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execute_model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F03C4D-079C-4BAF-ACF4-62A1E42D809B}"/>
              </a:ext>
            </a:extLst>
          </p:cNvPr>
          <p:cNvSpPr txBox="1"/>
          <p:nvPr/>
        </p:nvSpPr>
        <p:spPr>
          <a:xfrm>
            <a:off x="3112168" y="2556552"/>
            <a:ext cx="222985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模型不感知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draftToken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580D974-40E2-4E65-B7CC-ED022175A353}"/>
              </a:ext>
            </a:extLst>
          </p:cNvPr>
          <p:cNvSpPr/>
          <p:nvPr/>
        </p:nvSpPr>
        <p:spPr>
          <a:xfrm>
            <a:off x="1534400" y="3184358"/>
            <a:ext cx="137724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sample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E916076-7147-473D-BD4D-4E8F5F6380CA}"/>
              </a:ext>
            </a:extLst>
          </p:cNvPr>
          <p:cNvSpPr/>
          <p:nvPr/>
        </p:nvSpPr>
        <p:spPr>
          <a:xfrm>
            <a:off x="1534400" y="3850110"/>
            <a:ext cx="137724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postprocess_sampled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C53832F-F4DF-4737-BCEE-BE93CD168886}"/>
              </a:ext>
            </a:extLst>
          </p:cNvPr>
          <p:cNvSpPr/>
          <p:nvPr/>
        </p:nvSpPr>
        <p:spPr>
          <a:xfrm>
            <a:off x="1534397" y="4515862"/>
            <a:ext cx="1377241" cy="48928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propose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D0B1EEF-974E-4C9D-BED2-D9D3AF7A9965}"/>
              </a:ext>
            </a:extLst>
          </p:cNvPr>
          <p:cNvSpPr txBox="1"/>
          <p:nvPr/>
        </p:nvSpPr>
        <p:spPr>
          <a:xfrm>
            <a:off x="3112169" y="3207419"/>
            <a:ext cx="222985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投机推理在这一步采用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rejection_sampler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5927DB-2998-49A6-98AC-89C4A355F73C}"/>
              </a:ext>
            </a:extLst>
          </p:cNvPr>
          <p:cNvSpPr txBox="1"/>
          <p:nvPr/>
        </p:nvSpPr>
        <p:spPr>
          <a:xfrm>
            <a:off x="3112167" y="4646420"/>
            <a:ext cx="222985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draftToken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894B6F-BFE0-4E0C-8C55-45FE1E919E0A}"/>
              </a:ext>
            </a:extLst>
          </p:cNvPr>
          <p:cNvSpPr txBox="1"/>
          <p:nvPr/>
        </p:nvSpPr>
        <p:spPr>
          <a:xfrm>
            <a:off x="5342022" y="1975710"/>
            <a:ext cx="3609473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 algn="l">
              <a:buAutoNum type="arabicPeriod"/>
            </a:pPr>
            <a:r>
              <a:rPr kumimoji="1" lang="en-US" altLang="zh-CN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prepare_pos_seq_lens</a:t>
            </a:r>
            <a:r>
              <a:rPr kumimoji="1" lang="zh-CN" altLang="en-US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需要能处理树形结构</a:t>
            </a:r>
            <a:endParaRPr kumimoji="1" lang="en-US" altLang="zh-CN" sz="105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600" indent="-228600" algn="l">
              <a:buAutoNum type="arabicPeriod"/>
            </a:pPr>
            <a:r>
              <a:rPr kumimoji="1" lang="en-US" altLang="zh-CN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attn_megadata</a:t>
            </a:r>
            <a:r>
              <a:rPr kumimoji="1" lang="zh-CN" altLang="en-US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kumimoji="1" lang="en-US" altLang="zh-CN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</a:t>
            </a:r>
            <a:r>
              <a:rPr kumimoji="1" lang="zh-CN" altLang="en-US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流程中，</a:t>
            </a:r>
            <a:r>
              <a:rPr kumimoji="1" lang="en-US" altLang="zh-CN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mask</a:t>
            </a:r>
            <a:r>
              <a:rPr kumimoji="1" lang="zh-CN" altLang="en-US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需要单独生成</a:t>
            </a:r>
            <a:endParaRPr kumimoji="1" lang="en-US" altLang="zh-CN" sz="105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600" indent="-228600" algn="l">
              <a:buAutoNum type="arabicPeriod"/>
            </a:pPr>
            <a:r>
              <a:rPr kumimoji="1" lang="en-US" altLang="zh-CN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kv_slot</a:t>
            </a:r>
            <a:r>
              <a:rPr kumimoji="1" lang="zh-CN" altLang="en-US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生成修改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77CB7A-1B5A-4406-9E9C-5E246B755F37}"/>
              </a:ext>
            </a:extLst>
          </p:cNvPr>
          <p:cNvSpPr txBox="1"/>
          <p:nvPr/>
        </p:nvSpPr>
        <p:spPr>
          <a:xfrm>
            <a:off x="5342019" y="4646420"/>
            <a:ext cx="222985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生成树形</a:t>
            </a:r>
            <a:r>
              <a:rPr kumimoji="1" lang="en-US" altLang="zh-CN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draftToken</a:t>
            </a:r>
            <a:r>
              <a:rPr kumimoji="1" lang="zh-CN" altLang="en-US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，树形结构保存在</a:t>
            </a:r>
            <a:r>
              <a:rPr kumimoji="1" lang="en-US" altLang="zh-CN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reqState</a:t>
            </a:r>
            <a:r>
              <a:rPr kumimoji="1" lang="zh-CN" altLang="en-US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0C51A3F-038D-4934-B1AC-036D795A26F4}"/>
              </a:ext>
            </a:extLst>
          </p:cNvPr>
          <p:cNvSpPr txBox="1"/>
          <p:nvPr/>
        </p:nvSpPr>
        <p:spPr>
          <a:xfrm>
            <a:off x="5342019" y="3180890"/>
            <a:ext cx="222985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树形结构</a:t>
            </a:r>
            <a:r>
              <a:rPr kumimoji="1" lang="en-US" altLang="zh-CN" sz="105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verify</a:t>
            </a:r>
            <a:endParaRPr kumimoji="1" lang="zh-CN" altLang="en-US" sz="105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0737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AB830786-858C-46FB-87A0-DF3FBE3B4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12" y="111411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7020E"/>
                </a:solidFill>
              </a:rPr>
              <a:t>VLLM-Ascend</a:t>
            </a:r>
            <a:r>
              <a:rPr lang="zh-CN" altLang="en-US" b="1" dirty="0">
                <a:solidFill>
                  <a:srgbClr val="C7020E"/>
                </a:solidFill>
              </a:rPr>
              <a:t>动态树投机推理主要修改点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6DF5185-E212-4400-A863-36B6F7E45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651111"/>
              </p:ext>
            </p:extLst>
          </p:nvPr>
        </p:nvGraphicFramePr>
        <p:xfrm>
          <a:off x="247912" y="935458"/>
          <a:ext cx="11585520" cy="507635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426728">
                  <a:extLst>
                    <a:ext uri="{9D8B030D-6E8A-4147-A177-3AD203B41FA5}">
                      <a16:colId xmlns:a16="http://schemas.microsoft.com/office/drawing/2014/main" val="2841845766"/>
                    </a:ext>
                  </a:extLst>
                </a:gridCol>
                <a:gridCol w="5296952">
                  <a:extLst>
                    <a:ext uri="{9D8B030D-6E8A-4147-A177-3AD203B41FA5}">
                      <a16:colId xmlns:a16="http://schemas.microsoft.com/office/drawing/2014/main" val="819302302"/>
                    </a:ext>
                  </a:extLst>
                </a:gridCol>
                <a:gridCol w="3861840">
                  <a:extLst>
                    <a:ext uri="{9D8B030D-6E8A-4147-A177-3AD203B41FA5}">
                      <a16:colId xmlns:a16="http://schemas.microsoft.com/office/drawing/2014/main" val="576815935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流程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修改点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涉及文件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635401"/>
                  </a:ext>
                </a:extLst>
              </a:tr>
              <a:tr h="464529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Config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注册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AscendDflashTreeSpeculator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490361"/>
                  </a:ext>
                </a:extLst>
              </a:tr>
              <a:tr h="1031009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Prepare inputs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prepare_pos_seq_len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函数修改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position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生成，取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tree depth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Attn_metadata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的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build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流程中，目前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mask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是上三角矩阵，需要通过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tree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手动生成</a:t>
                      </a:r>
                      <a:endParaRPr lang="en-US" altLang="zh-CN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kvSlot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修改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Model_runner.py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Attention_v1.py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554886"/>
                  </a:ext>
                </a:extLst>
              </a:tr>
              <a:tr h="464529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Execute model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模型本身不感知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draftToken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的结构，保证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attn_metadata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正确</a:t>
                      </a:r>
                      <a:endParaRPr lang="en-US" altLang="zh-C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244554"/>
                  </a:ext>
                </a:extLst>
              </a:tr>
              <a:tr h="464529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Sample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Greedy tree verifier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获取最长接收路径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需要修改计算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kernel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Rejection_sampler.py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Rejection_sampler_utils.py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213746"/>
                  </a:ext>
                </a:extLst>
              </a:tr>
              <a:tr h="464529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Postprocess sampled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829396"/>
                  </a:ext>
                </a:extLst>
              </a:tr>
              <a:tr h="841087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Propose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复用单次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parallel forward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DDTree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候选树生成，生成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tree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相关的数据，递给后续的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prepare_inputs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函数内</a:t>
                      </a:r>
                      <a:endParaRPr lang="en-US" altLang="zh-CN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问题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1: 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还需要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markov bias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吗（</a:t>
                      </a:r>
                      <a:r>
                        <a:rPr lang="zh-CN" altLang="en-US" sz="1400" b="1" dirty="0">
                          <a:solidFill>
                            <a:srgbClr val="FF0000"/>
                          </a:solidFill>
                        </a:rPr>
                        <a:t>不需要了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）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dflash2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没有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markov bias</a:t>
                      </a:r>
                    </a:p>
                    <a:p>
                      <a:pPr marL="0" indent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问题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：树的生成放在哪里呢，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parents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相关参数怎么由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speculator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递给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AscendReqState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，修改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propose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接口的参数可能涉及修改上游</a:t>
                      </a:r>
                      <a:endParaRPr lang="en-US" altLang="zh-CN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保存在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AscendSpeculator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中，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prepareInputs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去取是否可以， 是否会和一些异步的调度起冲突？</a:t>
                      </a:r>
                      <a:endParaRPr lang="en-US" altLang="zh-CN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AutoNum type="arabicPeriod"/>
                      </a:pP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speculator.py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681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395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1">
            <a:extLst>
              <a:ext uri="{FF2B5EF4-FFF2-40B4-BE49-F238E27FC236}">
                <a16:creationId xmlns:a16="http://schemas.microsoft.com/office/drawing/2014/main" id="{7A3C648C-8334-45C5-83D7-53017D6C6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12" y="111411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7020E"/>
                </a:solidFill>
              </a:rPr>
              <a:t>VLLM-Ascend attn_mask</a:t>
            </a:r>
            <a:r>
              <a:rPr lang="zh-CN" altLang="en-US" b="1" dirty="0">
                <a:solidFill>
                  <a:srgbClr val="C7020E"/>
                </a:solidFill>
              </a:rPr>
              <a:t>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69D91C-1B8B-46C2-B1D8-4CAF1DA94D11}"/>
              </a:ext>
            </a:extLst>
          </p:cNvPr>
          <p:cNvSpPr/>
          <p:nvPr/>
        </p:nvSpPr>
        <p:spPr>
          <a:xfrm>
            <a:off x="2053652" y="1487775"/>
            <a:ext cx="4249712" cy="30729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E984EE-FFE1-4DA3-8C17-F31D61D0019E}"/>
              </a:ext>
            </a:extLst>
          </p:cNvPr>
          <p:cNvSpPr/>
          <p:nvPr/>
        </p:nvSpPr>
        <p:spPr>
          <a:xfrm>
            <a:off x="6303364" y="1487775"/>
            <a:ext cx="2008682" cy="30729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9EDA05-662F-49EF-B06D-143965B8A451}"/>
              </a:ext>
            </a:extLst>
          </p:cNvPr>
          <p:cNvSpPr txBox="1"/>
          <p:nvPr/>
        </p:nvSpPr>
        <p:spPr>
          <a:xfrm>
            <a:off x="3327817" y="1175138"/>
            <a:ext cx="165641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max_prev_kv_len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EEE780-0FB4-4C88-BFD1-A795D95E552C}"/>
              </a:ext>
            </a:extLst>
          </p:cNvPr>
          <p:cNvSpPr txBox="1"/>
          <p:nvPr/>
        </p:nvSpPr>
        <p:spPr>
          <a:xfrm>
            <a:off x="6573187" y="1175138"/>
            <a:ext cx="165641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max_query_len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4F0345-A671-4500-89A7-0D358F5F313E}"/>
              </a:ext>
            </a:extLst>
          </p:cNvPr>
          <p:cNvSpPr/>
          <p:nvPr/>
        </p:nvSpPr>
        <p:spPr>
          <a:xfrm>
            <a:off x="2053652" y="1487775"/>
            <a:ext cx="1581463" cy="1140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49B3C1-1469-4681-A91D-90080BAC6D86}"/>
              </a:ext>
            </a:extLst>
          </p:cNvPr>
          <p:cNvSpPr/>
          <p:nvPr/>
        </p:nvSpPr>
        <p:spPr>
          <a:xfrm>
            <a:off x="6303364" y="1494481"/>
            <a:ext cx="614597" cy="1140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6629B9-7C18-4460-A0A5-BC23A3CF434F}"/>
              </a:ext>
            </a:extLst>
          </p:cNvPr>
          <p:cNvSpPr/>
          <p:nvPr/>
        </p:nvSpPr>
        <p:spPr>
          <a:xfrm>
            <a:off x="2053652" y="1933050"/>
            <a:ext cx="4249712" cy="30729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73A924-4327-44D5-8FA9-17CB00916962}"/>
              </a:ext>
            </a:extLst>
          </p:cNvPr>
          <p:cNvSpPr/>
          <p:nvPr/>
        </p:nvSpPr>
        <p:spPr>
          <a:xfrm>
            <a:off x="6303364" y="1933050"/>
            <a:ext cx="2008682" cy="30729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A8D263-02C0-404A-BE7D-62D973B1BC24}"/>
              </a:ext>
            </a:extLst>
          </p:cNvPr>
          <p:cNvSpPr/>
          <p:nvPr/>
        </p:nvSpPr>
        <p:spPr>
          <a:xfrm>
            <a:off x="2053652" y="1933050"/>
            <a:ext cx="2930578" cy="900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335AFC6-BD5D-4851-9288-F27E7EE9C8BF}"/>
              </a:ext>
            </a:extLst>
          </p:cNvPr>
          <p:cNvSpPr/>
          <p:nvPr/>
        </p:nvSpPr>
        <p:spPr>
          <a:xfrm>
            <a:off x="6303364" y="1933050"/>
            <a:ext cx="614597" cy="900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F3FC86-EDD2-4D2D-937B-1427994677D5}"/>
              </a:ext>
            </a:extLst>
          </p:cNvPr>
          <p:cNvSpPr/>
          <p:nvPr/>
        </p:nvSpPr>
        <p:spPr>
          <a:xfrm>
            <a:off x="2053652" y="2378325"/>
            <a:ext cx="4249712" cy="30729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86881C5-70A1-4239-AB7D-46F4E20001F5}"/>
              </a:ext>
            </a:extLst>
          </p:cNvPr>
          <p:cNvSpPr/>
          <p:nvPr/>
        </p:nvSpPr>
        <p:spPr>
          <a:xfrm>
            <a:off x="6303364" y="2378325"/>
            <a:ext cx="2008682" cy="30729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4E5C03F-8414-4059-B3E3-DEC26FA8C511}"/>
              </a:ext>
            </a:extLst>
          </p:cNvPr>
          <p:cNvSpPr/>
          <p:nvPr/>
        </p:nvSpPr>
        <p:spPr>
          <a:xfrm>
            <a:off x="2053652" y="2378325"/>
            <a:ext cx="2480873" cy="3072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38065DE-1E46-4138-AD10-08B226966835}"/>
              </a:ext>
            </a:extLst>
          </p:cNvPr>
          <p:cNvSpPr/>
          <p:nvPr/>
        </p:nvSpPr>
        <p:spPr>
          <a:xfrm>
            <a:off x="6303364" y="2378325"/>
            <a:ext cx="614597" cy="3072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3B5D02-C6A4-4549-A90C-7A4ED3E4C0D3}"/>
              </a:ext>
            </a:extLst>
          </p:cNvPr>
          <p:cNvSpPr/>
          <p:nvPr/>
        </p:nvSpPr>
        <p:spPr>
          <a:xfrm>
            <a:off x="2053652" y="2823600"/>
            <a:ext cx="4249712" cy="30729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B1F2D95-3D2F-468B-B593-7EA65B2EE7EC}"/>
              </a:ext>
            </a:extLst>
          </p:cNvPr>
          <p:cNvSpPr/>
          <p:nvPr/>
        </p:nvSpPr>
        <p:spPr>
          <a:xfrm>
            <a:off x="6303364" y="2823600"/>
            <a:ext cx="2008682" cy="30729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7B4870-02E1-41DC-B8D7-5470F0D055F9}"/>
              </a:ext>
            </a:extLst>
          </p:cNvPr>
          <p:cNvSpPr/>
          <p:nvPr/>
        </p:nvSpPr>
        <p:spPr>
          <a:xfrm>
            <a:off x="2053652" y="2823600"/>
            <a:ext cx="4249712" cy="2267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F0B6E1C-8BC3-4496-9952-83A8DBC4EC84}"/>
              </a:ext>
            </a:extLst>
          </p:cNvPr>
          <p:cNvSpPr/>
          <p:nvPr/>
        </p:nvSpPr>
        <p:spPr>
          <a:xfrm>
            <a:off x="6303364" y="2823600"/>
            <a:ext cx="1221698" cy="2344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A8CC253-829E-4830-8841-8E34A8B8B7F5}"/>
              </a:ext>
            </a:extLst>
          </p:cNvPr>
          <p:cNvSpPr/>
          <p:nvPr/>
        </p:nvSpPr>
        <p:spPr>
          <a:xfrm>
            <a:off x="2053652" y="3268875"/>
            <a:ext cx="4249712" cy="30729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245B6CA-70DB-4ECE-9AAF-348006E9E102}"/>
              </a:ext>
            </a:extLst>
          </p:cNvPr>
          <p:cNvSpPr/>
          <p:nvPr/>
        </p:nvSpPr>
        <p:spPr>
          <a:xfrm>
            <a:off x="6303364" y="3268875"/>
            <a:ext cx="2008682" cy="30729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F738AEF-56CA-41EF-A6A4-36E9CB96450E}"/>
              </a:ext>
            </a:extLst>
          </p:cNvPr>
          <p:cNvSpPr/>
          <p:nvPr/>
        </p:nvSpPr>
        <p:spPr>
          <a:xfrm>
            <a:off x="2053652" y="3268875"/>
            <a:ext cx="3665096" cy="2358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16B6F7C-526D-4BFD-96AA-B844B8FCFD5B}"/>
              </a:ext>
            </a:extLst>
          </p:cNvPr>
          <p:cNvSpPr/>
          <p:nvPr/>
        </p:nvSpPr>
        <p:spPr>
          <a:xfrm>
            <a:off x="6303363" y="3268875"/>
            <a:ext cx="2008681" cy="2358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7E27643-904E-4124-8367-BD3563B7B474}"/>
              </a:ext>
            </a:extLst>
          </p:cNvPr>
          <p:cNvSpPr/>
          <p:nvPr/>
        </p:nvSpPr>
        <p:spPr>
          <a:xfrm>
            <a:off x="7929794" y="4215760"/>
            <a:ext cx="689548" cy="30729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FB83F9B-7930-4710-9BCC-6D2253913BF4}"/>
              </a:ext>
            </a:extLst>
          </p:cNvPr>
          <p:cNvSpPr txBox="1"/>
          <p:nvPr/>
        </p:nvSpPr>
        <p:spPr>
          <a:xfrm>
            <a:off x="8731770" y="4288617"/>
            <a:ext cx="6895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padding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A8812D1-BAA7-45C6-921D-98B268FFD593}"/>
              </a:ext>
            </a:extLst>
          </p:cNvPr>
          <p:cNvSpPr/>
          <p:nvPr/>
        </p:nvSpPr>
        <p:spPr>
          <a:xfrm>
            <a:off x="5094395" y="4215760"/>
            <a:ext cx="689548" cy="3072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667101-713A-4C7F-8A16-462214C66EB5}"/>
              </a:ext>
            </a:extLst>
          </p:cNvPr>
          <p:cNvSpPr txBox="1"/>
          <p:nvPr/>
        </p:nvSpPr>
        <p:spPr>
          <a:xfrm>
            <a:off x="5930094" y="4266877"/>
            <a:ext cx="85295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valid query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ACA2E53-2EAA-496B-8BE2-904038C15369}"/>
              </a:ext>
            </a:extLst>
          </p:cNvPr>
          <p:cNvSpPr/>
          <p:nvPr/>
        </p:nvSpPr>
        <p:spPr>
          <a:xfrm>
            <a:off x="2352330" y="4211443"/>
            <a:ext cx="689548" cy="3072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225EE9A-E30E-4580-A2D8-9D1E04A8CC81}"/>
              </a:ext>
            </a:extLst>
          </p:cNvPr>
          <p:cNvSpPr txBox="1"/>
          <p:nvPr/>
        </p:nvSpPr>
        <p:spPr>
          <a:xfrm>
            <a:off x="3188029" y="4262560"/>
            <a:ext cx="85295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valid prev_kv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FB8B12A-5991-44C8-BBA1-F3F05FEE09A3}"/>
              </a:ext>
            </a:extLst>
          </p:cNvPr>
          <p:cNvSpPr txBox="1"/>
          <p:nvPr/>
        </p:nvSpPr>
        <p:spPr>
          <a:xfrm>
            <a:off x="1200697" y="1551483"/>
            <a:ext cx="85295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req 0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6AE46E2-8AA4-453F-982D-2267180F5D8D}"/>
              </a:ext>
            </a:extLst>
          </p:cNvPr>
          <p:cNvSpPr txBox="1"/>
          <p:nvPr/>
        </p:nvSpPr>
        <p:spPr>
          <a:xfrm>
            <a:off x="1200697" y="1966119"/>
            <a:ext cx="85295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req 1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F7221F8-FE3E-4B4E-9466-FB4DC13E06CD}"/>
              </a:ext>
            </a:extLst>
          </p:cNvPr>
          <p:cNvSpPr txBox="1"/>
          <p:nvPr/>
        </p:nvSpPr>
        <p:spPr>
          <a:xfrm>
            <a:off x="1200696" y="2451182"/>
            <a:ext cx="85295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req 2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8E6FB00-862E-4967-9889-D6C84ECA69BF}"/>
              </a:ext>
            </a:extLst>
          </p:cNvPr>
          <p:cNvSpPr txBox="1"/>
          <p:nvPr/>
        </p:nvSpPr>
        <p:spPr>
          <a:xfrm>
            <a:off x="1200695" y="2896457"/>
            <a:ext cx="85295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req 3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184A47-2ADA-4EC8-B8E9-82EE943122BB}"/>
              </a:ext>
            </a:extLst>
          </p:cNvPr>
          <p:cNvSpPr txBox="1"/>
          <p:nvPr/>
        </p:nvSpPr>
        <p:spPr>
          <a:xfrm>
            <a:off x="1200697" y="3323097"/>
            <a:ext cx="85295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req 4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7A6A553-630F-4DFB-89A9-2F25B8122B1E}"/>
              </a:ext>
            </a:extLst>
          </p:cNvPr>
          <p:cNvSpPr txBox="1"/>
          <p:nvPr/>
        </p:nvSpPr>
        <p:spPr>
          <a:xfrm>
            <a:off x="8731770" y="1551483"/>
            <a:ext cx="332032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shape</a:t>
            </a:r>
          </a:p>
          <a:p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(num_reqs, 1,</a:t>
            </a:r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max_query_len, max_kv_len)</a:t>
            </a:r>
            <a:endParaRPr kumimoji="1" lang="zh-CN" altLang="en-US" sz="1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B0EE3E0-373E-4426-9699-FD8F85A5B733}"/>
              </a:ext>
            </a:extLst>
          </p:cNvPr>
          <p:cNvSpPr txBox="1"/>
          <p:nvPr/>
        </p:nvSpPr>
        <p:spPr>
          <a:xfrm>
            <a:off x="2352330" y="4737249"/>
            <a:ext cx="157974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mask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全为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False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009CCC9-DB7F-46AE-ADD7-025CF0F19CE6}"/>
              </a:ext>
            </a:extLst>
          </p:cNvPr>
          <p:cNvSpPr txBox="1"/>
          <p:nvPr/>
        </p:nvSpPr>
        <p:spPr>
          <a:xfrm>
            <a:off x="4838505" y="4676746"/>
            <a:ext cx="2519752" cy="8079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Prefill: 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上三角矩阵，方形</a:t>
            </a:r>
            <a:endParaRPr kumimoji="1" lang="en-US" altLang="zh-CN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prefill shape: [Q_S, Q_S]</a:t>
            </a:r>
          </a:p>
          <a:p>
            <a:pPr algn="l"/>
            <a:endParaRPr kumimoji="1" lang="en-US" altLang="zh-CN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Decode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：根据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tree_visibility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构建，方形</a:t>
            </a:r>
            <a:endParaRPr kumimoji="1" lang="en-US" altLang="zh-CN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decode shape: [1+budget, 1+budget]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04AEC08-5F51-4728-A424-2955DDCB53E3}"/>
              </a:ext>
            </a:extLst>
          </p:cNvPr>
          <p:cNvSpPr txBox="1"/>
          <p:nvPr/>
        </p:nvSpPr>
        <p:spPr>
          <a:xfrm>
            <a:off x="7924175" y="4805928"/>
            <a:ext cx="157974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mask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全为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4286075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1CB3707-D220-48F5-82E4-3536659F9331}"/>
              </a:ext>
            </a:extLst>
          </p:cNvPr>
          <p:cNvSpPr/>
          <p:nvPr/>
        </p:nvSpPr>
        <p:spPr>
          <a:xfrm>
            <a:off x="3189189" y="3669029"/>
            <a:ext cx="1439056" cy="569627"/>
          </a:xfrm>
          <a:prstGeom prst="roundRect">
            <a:avLst/>
          </a:prstGeom>
          <a:solidFill>
            <a:srgbClr val="FFE5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speculator</a:t>
            </a:r>
          </a:p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(</a:t>
            </a:r>
            <a:r>
              <a:rPr lang="en-US" altLang="zh-CN" sz="1400" b="1" dirty="0">
                <a:solidFill>
                  <a:sysClr val="windowText" lastClr="000000"/>
                </a:solidFill>
              </a:rPr>
              <a:t>tree build</a:t>
            </a:r>
            <a:r>
              <a:rPr lang="en-US" altLang="zh-CN" sz="1400" dirty="0">
                <a:solidFill>
                  <a:sysClr val="windowText" lastClr="000000"/>
                </a:solidFill>
              </a:rPr>
              <a:t>)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670CAFF-FF52-490D-B9E7-A33D935F7637}"/>
              </a:ext>
            </a:extLst>
          </p:cNvPr>
          <p:cNvSpPr/>
          <p:nvPr/>
        </p:nvSpPr>
        <p:spPr>
          <a:xfrm>
            <a:off x="6377097" y="3669029"/>
            <a:ext cx="1439056" cy="5696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model execute</a:t>
            </a:r>
          </a:p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(</a:t>
            </a:r>
            <a:r>
              <a:rPr lang="en-US" altLang="zh-CN" sz="1400" b="1" dirty="0">
                <a:solidFill>
                  <a:srgbClr val="FF0000"/>
                </a:solidFill>
              </a:rPr>
              <a:t>mask build</a:t>
            </a:r>
            <a:r>
              <a:rPr lang="en-US" altLang="zh-CN" sz="1400" dirty="0">
                <a:solidFill>
                  <a:sysClr val="windowText" lastClr="000000"/>
                </a:solidFill>
              </a:rPr>
              <a:t>)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BE91748-7CA8-4BA5-BA6B-1665C1E775A9}"/>
              </a:ext>
            </a:extLst>
          </p:cNvPr>
          <p:cNvCxnSpPr/>
          <p:nvPr/>
        </p:nvCxnSpPr>
        <p:spPr>
          <a:xfrm>
            <a:off x="4628244" y="3953841"/>
            <a:ext cx="17488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6CEE49ED-A0FD-4B93-933D-7764002F61C1}"/>
              </a:ext>
            </a:extLst>
          </p:cNvPr>
          <p:cNvSpPr txBox="1"/>
          <p:nvPr/>
        </p:nvSpPr>
        <p:spPr>
          <a:xfrm>
            <a:off x="4926877" y="3973328"/>
            <a:ext cx="131164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propose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提供树形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draftToken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F4F0367B-D326-470E-88C3-20D5BDCC4FCF}"/>
              </a:ext>
            </a:extLst>
          </p:cNvPr>
          <p:cNvSpPr/>
          <p:nvPr/>
        </p:nvSpPr>
        <p:spPr>
          <a:xfrm>
            <a:off x="1256711" y="5568878"/>
            <a:ext cx="8940380" cy="4155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Attn Backend(dsa_v1, attention_v1..)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A21EB7F5-83C6-4229-BEF8-B6B15959344B}"/>
              </a:ext>
            </a:extLst>
          </p:cNvPr>
          <p:cNvCxnSpPr>
            <a:stCxn id="36" idx="2"/>
          </p:cNvCxnSpPr>
          <p:nvPr/>
        </p:nvCxnSpPr>
        <p:spPr>
          <a:xfrm>
            <a:off x="3908717" y="4238656"/>
            <a:ext cx="7496" cy="1351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D7B44FC4-FB15-4A22-B74E-04558C4FF325}"/>
              </a:ext>
            </a:extLst>
          </p:cNvPr>
          <p:cNvSpPr txBox="1"/>
          <p:nvPr/>
        </p:nvSpPr>
        <p:spPr>
          <a:xfrm>
            <a:off x="3959115" y="4592718"/>
            <a:ext cx="1016209" cy="8079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 model forward</a:t>
            </a:r>
          </a:p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dflash/dsparkdomino(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二阶修正 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qwen3)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6646577-79DB-4875-B876-65836014D4D2}"/>
              </a:ext>
            </a:extLst>
          </p:cNvPr>
          <p:cNvCxnSpPr/>
          <p:nvPr/>
        </p:nvCxnSpPr>
        <p:spPr>
          <a:xfrm>
            <a:off x="7115365" y="4238656"/>
            <a:ext cx="7496" cy="1351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2258D405-BE2F-4E07-A8F0-785DB09175B1}"/>
              </a:ext>
            </a:extLst>
          </p:cNvPr>
          <p:cNvSpPr txBox="1"/>
          <p:nvPr/>
        </p:nvSpPr>
        <p:spPr>
          <a:xfrm>
            <a:off x="7168394" y="4804534"/>
            <a:ext cx="985717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target model forward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0B1D396-D657-4DC3-AA4E-2D445C490A4F}"/>
              </a:ext>
            </a:extLst>
          </p:cNvPr>
          <p:cNvSpPr/>
          <p:nvPr/>
        </p:nvSpPr>
        <p:spPr>
          <a:xfrm>
            <a:off x="8343306" y="3669028"/>
            <a:ext cx="1846289" cy="569627"/>
          </a:xfrm>
          <a:prstGeom prst="roundRect">
            <a:avLst/>
          </a:prstGeom>
          <a:solidFill>
            <a:srgbClr val="FEE4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rejection sampler</a:t>
            </a:r>
          </a:p>
          <a:p>
            <a:pPr algn="ctr"/>
            <a:r>
              <a:rPr lang="en-US" altLang="zh-CN" sz="1400" b="1" dirty="0">
                <a:solidFill>
                  <a:sysClr val="windowText" lastClr="000000"/>
                </a:solidFill>
              </a:rPr>
              <a:t>(greedy verify)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954019DA-50A1-4A0C-A05B-5BC94C64A922}"/>
              </a:ext>
            </a:extLst>
          </p:cNvPr>
          <p:cNvCxnSpPr>
            <a:cxnSpLocks/>
            <a:stCxn id="37" idx="3"/>
            <a:endCxn id="50" idx="1"/>
          </p:cNvCxnSpPr>
          <p:nvPr/>
        </p:nvCxnSpPr>
        <p:spPr>
          <a:xfrm flipV="1">
            <a:off x="7816153" y="3953842"/>
            <a:ext cx="5271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5340DA71-CEB1-4310-843B-70812FA07E38}"/>
              </a:ext>
            </a:extLst>
          </p:cNvPr>
          <p:cNvSpPr/>
          <p:nvPr/>
        </p:nvSpPr>
        <p:spPr>
          <a:xfrm>
            <a:off x="1249215" y="3669029"/>
            <a:ext cx="1439056" cy="5696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scheduler</a:t>
            </a:r>
          </a:p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(</a:t>
            </a:r>
            <a:r>
              <a:rPr lang="zh-CN" altLang="en-US" sz="1400" b="1" dirty="0">
                <a:solidFill>
                  <a:srgbClr val="FF0000"/>
                </a:solidFill>
              </a:rPr>
              <a:t>动态</a:t>
            </a:r>
            <a:r>
              <a:rPr lang="en-US" altLang="zh-CN" sz="1400" dirty="0">
                <a:solidFill>
                  <a:sysClr val="windowText" lastClr="000000"/>
                </a:solidFill>
              </a:rPr>
              <a:t>)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7870C17D-45E0-42BF-B0BF-C58DBB849751}"/>
              </a:ext>
            </a:extLst>
          </p:cNvPr>
          <p:cNvCxnSpPr>
            <a:stCxn id="54" idx="3"/>
            <a:endCxn id="36" idx="1"/>
          </p:cNvCxnSpPr>
          <p:nvPr/>
        </p:nvCxnSpPr>
        <p:spPr>
          <a:xfrm>
            <a:off x="2688271" y="3953843"/>
            <a:ext cx="5009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7E6DF335-1DCB-4A24-AF61-01AC21514441}"/>
              </a:ext>
            </a:extLst>
          </p:cNvPr>
          <p:cNvCxnSpPr>
            <a:cxnSpLocks/>
            <a:stCxn id="50" idx="0"/>
            <a:endCxn id="54" idx="0"/>
          </p:cNvCxnSpPr>
          <p:nvPr/>
        </p:nvCxnSpPr>
        <p:spPr>
          <a:xfrm rot="16200000" flipH="1" flipV="1">
            <a:off x="5617596" y="20174"/>
            <a:ext cx="1" cy="7297708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2D804EB2-60D6-4E57-807E-6D102B1A1A14}"/>
              </a:ext>
            </a:extLst>
          </p:cNvPr>
          <p:cNvSpPr txBox="1"/>
          <p:nvPr/>
        </p:nvSpPr>
        <p:spPr>
          <a:xfrm>
            <a:off x="4347180" y="3205592"/>
            <a:ext cx="240157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accept draft token &amp; </a:t>
            </a:r>
            <a:r>
              <a:rPr kumimoji="1" lang="en-US" altLang="zh-CN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kv compact</a:t>
            </a:r>
            <a:endParaRPr kumimoji="1" lang="zh-CN" altLang="en-US" sz="105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C8EFB5-5629-423A-8785-2D0CABEDC48C}"/>
              </a:ext>
            </a:extLst>
          </p:cNvPr>
          <p:cNvSpPr/>
          <p:nvPr/>
        </p:nvSpPr>
        <p:spPr>
          <a:xfrm>
            <a:off x="7391403" y="979371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231DC2-58A9-4A2F-BBAA-8FBFEC5148B5}"/>
              </a:ext>
            </a:extLst>
          </p:cNvPr>
          <p:cNvSpPr/>
          <p:nvPr/>
        </p:nvSpPr>
        <p:spPr>
          <a:xfrm>
            <a:off x="7851101" y="979370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F74EFE-A577-4FC0-8E26-7A8DBF718F21}"/>
              </a:ext>
            </a:extLst>
          </p:cNvPr>
          <p:cNvSpPr/>
          <p:nvPr/>
        </p:nvSpPr>
        <p:spPr>
          <a:xfrm>
            <a:off x="8313297" y="979369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B28CF7-3172-4AA8-B982-5B4B9722F4A9}"/>
              </a:ext>
            </a:extLst>
          </p:cNvPr>
          <p:cNvSpPr/>
          <p:nvPr/>
        </p:nvSpPr>
        <p:spPr>
          <a:xfrm>
            <a:off x="8772995" y="979371"/>
            <a:ext cx="299803" cy="26982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1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F683AD2-12FA-400D-99E9-DA5E1FF1F1F3}"/>
              </a:ext>
            </a:extLst>
          </p:cNvPr>
          <p:cNvSpPr/>
          <p:nvPr/>
        </p:nvSpPr>
        <p:spPr>
          <a:xfrm>
            <a:off x="9292651" y="579633"/>
            <a:ext cx="299803" cy="26982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2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8D710F1-31B9-47B7-81A3-C53786C002A5}"/>
              </a:ext>
            </a:extLst>
          </p:cNvPr>
          <p:cNvSpPr/>
          <p:nvPr/>
        </p:nvSpPr>
        <p:spPr>
          <a:xfrm>
            <a:off x="9781070" y="379764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4C52120-D954-40C5-971B-C6FD30F5FF75}"/>
              </a:ext>
            </a:extLst>
          </p:cNvPr>
          <p:cNvSpPr/>
          <p:nvPr/>
        </p:nvSpPr>
        <p:spPr>
          <a:xfrm>
            <a:off x="9787322" y="779500"/>
            <a:ext cx="299803" cy="26982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4204B3B-6198-426A-A51A-643939262978}"/>
              </a:ext>
            </a:extLst>
          </p:cNvPr>
          <p:cNvSpPr/>
          <p:nvPr/>
        </p:nvSpPr>
        <p:spPr>
          <a:xfrm>
            <a:off x="9295149" y="1411585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3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B81127-2881-4664-9405-4C704D511E98}"/>
              </a:ext>
            </a:extLst>
          </p:cNvPr>
          <p:cNvSpPr/>
          <p:nvPr/>
        </p:nvSpPr>
        <p:spPr>
          <a:xfrm>
            <a:off x="9787322" y="1211716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24DB8F3-B167-417A-9624-E407CAAABD4C}"/>
              </a:ext>
            </a:extLst>
          </p:cNvPr>
          <p:cNvSpPr/>
          <p:nvPr/>
        </p:nvSpPr>
        <p:spPr>
          <a:xfrm>
            <a:off x="9789820" y="1611452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0B8A71-E835-4BED-BC25-F7CA9DFF8420}"/>
              </a:ext>
            </a:extLst>
          </p:cNvPr>
          <p:cNvSpPr/>
          <p:nvPr/>
        </p:nvSpPr>
        <p:spPr>
          <a:xfrm>
            <a:off x="10276997" y="379763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8D4BF3-E6DD-4E29-8825-114DE3E94D1B}"/>
              </a:ext>
            </a:extLst>
          </p:cNvPr>
          <p:cNvSpPr/>
          <p:nvPr/>
        </p:nvSpPr>
        <p:spPr>
          <a:xfrm>
            <a:off x="10284491" y="1611452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D69629-CC4D-4687-AF84-498761D3F1D3}"/>
              </a:ext>
            </a:extLst>
          </p:cNvPr>
          <p:cNvSpPr/>
          <p:nvPr/>
        </p:nvSpPr>
        <p:spPr>
          <a:xfrm>
            <a:off x="10779162" y="1611451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324C2B5-E386-4290-B4CC-1C56DDCF104E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 flipV="1">
            <a:off x="9072798" y="714545"/>
            <a:ext cx="219853" cy="3997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9B39057-35D0-4602-AF6B-76B867158172}"/>
              </a:ext>
            </a:extLst>
          </p:cNvPr>
          <p:cNvCxnSpPr>
            <a:stCxn id="20" idx="3"/>
            <a:endCxn id="24" idx="1"/>
          </p:cNvCxnSpPr>
          <p:nvPr/>
        </p:nvCxnSpPr>
        <p:spPr>
          <a:xfrm>
            <a:off x="9072798" y="1114283"/>
            <a:ext cx="222351" cy="4322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70125D1-D295-4887-9670-1EDDC4097345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 flipV="1">
            <a:off x="9592454" y="514676"/>
            <a:ext cx="188616" cy="1998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BBB38CC-3866-4E7D-A06A-7993C06F35AA}"/>
              </a:ext>
            </a:extLst>
          </p:cNvPr>
          <p:cNvCxnSpPr>
            <a:stCxn id="22" idx="3"/>
            <a:endCxn id="27" idx="1"/>
          </p:cNvCxnSpPr>
          <p:nvPr/>
        </p:nvCxnSpPr>
        <p:spPr>
          <a:xfrm flipV="1">
            <a:off x="10080873" y="514675"/>
            <a:ext cx="19612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FEF1EAB-7035-487A-9E5A-4F54610B1758}"/>
              </a:ext>
            </a:extLst>
          </p:cNvPr>
          <p:cNvCxnSpPr>
            <a:stCxn id="21" idx="3"/>
            <a:endCxn id="23" idx="1"/>
          </p:cNvCxnSpPr>
          <p:nvPr/>
        </p:nvCxnSpPr>
        <p:spPr>
          <a:xfrm>
            <a:off x="9592454" y="714545"/>
            <a:ext cx="194868" cy="199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C95F760-632F-4C37-8A84-C94ED49D82FF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 flipV="1">
            <a:off x="9594952" y="1346628"/>
            <a:ext cx="192370" cy="1998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CEBD29D-ED5F-4D91-9C60-88789FB90CBB}"/>
              </a:ext>
            </a:extLst>
          </p:cNvPr>
          <p:cNvCxnSpPr>
            <a:stCxn id="24" idx="3"/>
            <a:endCxn id="26" idx="1"/>
          </p:cNvCxnSpPr>
          <p:nvPr/>
        </p:nvCxnSpPr>
        <p:spPr>
          <a:xfrm>
            <a:off x="9594952" y="1546497"/>
            <a:ext cx="194868" cy="199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73C4143-B63E-4F35-867C-94360136CDCD}"/>
              </a:ext>
            </a:extLst>
          </p:cNvPr>
          <p:cNvCxnSpPr>
            <a:stCxn id="26" idx="3"/>
            <a:endCxn id="28" idx="1"/>
          </p:cNvCxnSpPr>
          <p:nvPr/>
        </p:nvCxnSpPr>
        <p:spPr>
          <a:xfrm>
            <a:off x="10089623" y="1746364"/>
            <a:ext cx="1948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F5B7251-10F5-4C67-B950-C2D09C7AB643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 flipV="1">
            <a:off x="10584294" y="1746363"/>
            <a:ext cx="19486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7BF286D2-CB32-4E74-8BAD-ED2BF7D8B672}"/>
              </a:ext>
            </a:extLst>
          </p:cNvPr>
          <p:cNvSpPr txBox="1"/>
          <p:nvPr/>
        </p:nvSpPr>
        <p:spPr>
          <a:xfrm>
            <a:off x="7229010" y="2048230"/>
            <a:ext cx="1277911" cy="161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computed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A04B471-F976-430C-B025-0469C509A20E}"/>
              </a:ext>
            </a:extLst>
          </p:cNvPr>
          <p:cNvSpPr/>
          <p:nvPr/>
        </p:nvSpPr>
        <p:spPr>
          <a:xfrm>
            <a:off x="6929207" y="979371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7CF510F-8145-4E70-BD7A-2CF9FBB016BA}"/>
              </a:ext>
            </a:extLst>
          </p:cNvPr>
          <p:cNvSpPr txBox="1"/>
          <p:nvPr/>
        </p:nvSpPr>
        <p:spPr>
          <a:xfrm>
            <a:off x="9156481" y="2089169"/>
            <a:ext cx="1277911" cy="161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 token(tree)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36F2F22-D6CB-4BD8-9674-2E0E5DE47474}"/>
              </a:ext>
            </a:extLst>
          </p:cNvPr>
          <p:cNvCxnSpPr/>
          <p:nvPr/>
        </p:nvCxnSpPr>
        <p:spPr>
          <a:xfrm>
            <a:off x="8679305" y="514676"/>
            <a:ext cx="0" cy="2214545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D4FFB508-C373-40C0-97A5-E91BE6E663C2}"/>
              </a:ext>
            </a:extLst>
          </p:cNvPr>
          <p:cNvSpPr/>
          <p:nvPr/>
        </p:nvSpPr>
        <p:spPr>
          <a:xfrm>
            <a:off x="1411608" y="974356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6250135-FADB-441D-9EA3-3DB642F15FEC}"/>
              </a:ext>
            </a:extLst>
          </p:cNvPr>
          <p:cNvSpPr/>
          <p:nvPr/>
        </p:nvSpPr>
        <p:spPr>
          <a:xfrm>
            <a:off x="1871306" y="974355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52D0D9A-2BBB-4F88-907A-3AB36B28BCDF}"/>
              </a:ext>
            </a:extLst>
          </p:cNvPr>
          <p:cNvSpPr/>
          <p:nvPr/>
        </p:nvSpPr>
        <p:spPr>
          <a:xfrm>
            <a:off x="2333502" y="974354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388808F-4C66-40A6-B215-D0ABFC7D40A3}"/>
              </a:ext>
            </a:extLst>
          </p:cNvPr>
          <p:cNvSpPr/>
          <p:nvPr/>
        </p:nvSpPr>
        <p:spPr>
          <a:xfrm>
            <a:off x="2793200" y="974356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6D94A3C-0876-4672-89C0-43D3C0ABEEEE}"/>
              </a:ext>
            </a:extLst>
          </p:cNvPr>
          <p:cNvSpPr/>
          <p:nvPr/>
        </p:nvSpPr>
        <p:spPr>
          <a:xfrm>
            <a:off x="3320679" y="974278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1903280-DD65-4205-867D-4B0CDCBE6DD8}"/>
              </a:ext>
            </a:extLst>
          </p:cNvPr>
          <p:cNvSpPr/>
          <p:nvPr/>
        </p:nvSpPr>
        <p:spPr>
          <a:xfrm>
            <a:off x="3789409" y="969102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D68AFD9-1F2B-484A-A8A3-6A5AEA0FC6F8}"/>
              </a:ext>
            </a:extLst>
          </p:cNvPr>
          <p:cNvSpPr/>
          <p:nvPr/>
        </p:nvSpPr>
        <p:spPr>
          <a:xfrm>
            <a:off x="4284080" y="968241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4FF560D-EC47-4DB9-AE96-41116C6B82B0}"/>
              </a:ext>
            </a:extLst>
          </p:cNvPr>
          <p:cNvSpPr txBox="1"/>
          <p:nvPr/>
        </p:nvSpPr>
        <p:spPr>
          <a:xfrm>
            <a:off x="1249215" y="2043215"/>
            <a:ext cx="1277911" cy="161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computed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95F4A18-5C46-4F76-86E5-6CE8FE894B45}"/>
              </a:ext>
            </a:extLst>
          </p:cNvPr>
          <p:cNvSpPr/>
          <p:nvPr/>
        </p:nvSpPr>
        <p:spPr>
          <a:xfrm>
            <a:off x="949412" y="974356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9FF5F4B6-87DB-4575-863F-8FAB62E7D931}"/>
              </a:ext>
            </a:extLst>
          </p:cNvPr>
          <p:cNvSpPr txBox="1"/>
          <p:nvPr/>
        </p:nvSpPr>
        <p:spPr>
          <a:xfrm>
            <a:off x="3150453" y="2038199"/>
            <a:ext cx="1277911" cy="161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 token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A503BA6C-4566-4299-A589-DDE8290DC992}"/>
              </a:ext>
            </a:extLst>
          </p:cNvPr>
          <p:cNvCxnSpPr/>
          <p:nvPr/>
        </p:nvCxnSpPr>
        <p:spPr>
          <a:xfrm>
            <a:off x="2699510" y="509661"/>
            <a:ext cx="0" cy="2214545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箭头: 右 4">
            <a:extLst>
              <a:ext uri="{FF2B5EF4-FFF2-40B4-BE49-F238E27FC236}">
                <a16:creationId xmlns:a16="http://schemas.microsoft.com/office/drawing/2014/main" id="{5F1DC01C-81C4-4B0E-92CE-AE65FA4C7A9C}"/>
              </a:ext>
            </a:extLst>
          </p:cNvPr>
          <p:cNvSpPr/>
          <p:nvPr/>
        </p:nvSpPr>
        <p:spPr>
          <a:xfrm>
            <a:off x="5805907" y="858224"/>
            <a:ext cx="456542" cy="469692"/>
          </a:xfrm>
          <a:prstGeom prst="rightArrow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90BDC26-2BC5-4860-B249-A68DD35F5FE8}"/>
              </a:ext>
            </a:extLst>
          </p:cNvPr>
          <p:cNvCxnSpPr>
            <a:cxnSpLocks/>
          </p:cNvCxnSpPr>
          <p:nvPr/>
        </p:nvCxnSpPr>
        <p:spPr>
          <a:xfrm>
            <a:off x="127416" y="2872639"/>
            <a:ext cx="120693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2045F6F0-DCA5-4189-817F-3A2DD3C30100}"/>
              </a:ext>
            </a:extLst>
          </p:cNvPr>
          <p:cNvSpPr/>
          <p:nvPr/>
        </p:nvSpPr>
        <p:spPr>
          <a:xfrm>
            <a:off x="2795698" y="1457369"/>
            <a:ext cx="299803" cy="26982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8D114333-215F-4F52-9C75-AF1BAF26DB48}"/>
              </a:ext>
            </a:extLst>
          </p:cNvPr>
          <p:cNvSpPr/>
          <p:nvPr/>
        </p:nvSpPr>
        <p:spPr>
          <a:xfrm>
            <a:off x="3323177" y="1457291"/>
            <a:ext cx="299803" cy="26982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7EA8BD1-76BB-4DEA-9EBC-B6C986B8D679}"/>
              </a:ext>
            </a:extLst>
          </p:cNvPr>
          <p:cNvSpPr/>
          <p:nvPr/>
        </p:nvSpPr>
        <p:spPr>
          <a:xfrm>
            <a:off x="3791907" y="1452115"/>
            <a:ext cx="299803" cy="2698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AE47E86-423B-4FC5-9FD7-904ECBC6049A}"/>
              </a:ext>
            </a:extLst>
          </p:cNvPr>
          <p:cNvSpPr/>
          <p:nvPr/>
        </p:nvSpPr>
        <p:spPr>
          <a:xfrm>
            <a:off x="4286578" y="1451254"/>
            <a:ext cx="299803" cy="2698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18D4D975-A20C-484E-9C37-9F62ADB63F53}"/>
              </a:ext>
            </a:extLst>
          </p:cNvPr>
          <p:cNvSpPr/>
          <p:nvPr/>
        </p:nvSpPr>
        <p:spPr>
          <a:xfrm>
            <a:off x="4755308" y="1457369"/>
            <a:ext cx="299803" cy="2698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7E786F2-CD46-4ACD-BCBE-FE91A5CB468D}"/>
              </a:ext>
            </a:extLst>
          </p:cNvPr>
          <p:cNvSpPr txBox="1"/>
          <p:nvPr/>
        </p:nvSpPr>
        <p:spPr>
          <a:xfrm>
            <a:off x="4763156" y="2035251"/>
            <a:ext cx="1277911" cy="161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bonus token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61973D81-A98C-4849-909A-5624C2869279}"/>
              </a:ext>
            </a:extLst>
          </p:cNvPr>
          <p:cNvCxnSpPr/>
          <p:nvPr/>
        </p:nvCxnSpPr>
        <p:spPr>
          <a:xfrm>
            <a:off x="4654509" y="509661"/>
            <a:ext cx="0" cy="2214545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D5EC52-71CD-45D2-B3D8-C6BED010DDC9}"/>
              </a:ext>
            </a:extLst>
          </p:cNvPr>
          <p:cNvCxnSpPr>
            <a:stCxn id="58" idx="2"/>
            <a:endCxn id="88" idx="0"/>
          </p:cNvCxnSpPr>
          <p:nvPr/>
        </p:nvCxnSpPr>
        <p:spPr>
          <a:xfrm>
            <a:off x="2483404" y="1244177"/>
            <a:ext cx="462196" cy="213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8CFAE33-54D8-42F3-BDAD-FAF07E8E7F0D}"/>
              </a:ext>
            </a:extLst>
          </p:cNvPr>
          <p:cNvCxnSpPr>
            <a:stCxn id="59" idx="2"/>
            <a:endCxn id="89" idx="0"/>
          </p:cNvCxnSpPr>
          <p:nvPr/>
        </p:nvCxnSpPr>
        <p:spPr>
          <a:xfrm>
            <a:off x="2943102" y="1244179"/>
            <a:ext cx="529977" cy="2131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B017F50-BFCB-487E-9BE5-A9450583C20D}"/>
              </a:ext>
            </a:extLst>
          </p:cNvPr>
          <p:cNvCxnSpPr>
            <a:stCxn id="67" idx="2"/>
            <a:endCxn id="90" idx="0"/>
          </p:cNvCxnSpPr>
          <p:nvPr/>
        </p:nvCxnSpPr>
        <p:spPr>
          <a:xfrm>
            <a:off x="3470581" y="1244101"/>
            <a:ext cx="471228" cy="2080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0DE67A39-CB0F-4185-BC1E-51ADB1E8743B}"/>
              </a:ext>
            </a:extLst>
          </p:cNvPr>
          <p:cNvCxnSpPr>
            <a:stCxn id="69" idx="2"/>
            <a:endCxn id="91" idx="0"/>
          </p:cNvCxnSpPr>
          <p:nvPr/>
        </p:nvCxnSpPr>
        <p:spPr>
          <a:xfrm>
            <a:off x="3939311" y="1238925"/>
            <a:ext cx="497169" cy="2123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01B5F893-CBA7-4BD0-BF2A-9A93F8D29A47}"/>
              </a:ext>
            </a:extLst>
          </p:cNvPr>
          <p:cNvCxnSpPr>
            <a:stCxn id="70" idx="2"/>
            <a:endCxn id="92" idx="0"/>
          </p:cNvCxnSpPr>
          <p:nvPr/>
        </p:nvCxnSpPr>
        <p:spPr>
          <a:xfrm>
            <a:off x="4433982" y="1238064"/>
            <a:ext cx="471228" cy="2193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8D23FC8D-3789-4B12-B670-C76933D705A4}"/>
              </a:ext>
            </a:extLst>
          </p:cNvPr>
          <p:cNvSpPr txBox="1"/>
          <p:nvPr/>
        </p:nvSpPr>
        <p:spPr>
          <a:xfrm>
            <a:off x="6572996" y="3115919"/>
            <a:ext cx="193661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KV Cache</a:t>
            </a:r>
            <a:r>
              <a:rPr lang="zh-CN" altLang="en-US" b="1" dirty="0">
                <a:solidFill>
                  <a:srgbClr val="FF0000"/>
                </a:solidFill>
              </a:rPr>
              <a:t>重排抽象</a:t>
            </a:r>
            <a:endParaRPr kumimoji="1"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D80385CA-ED97-4864-B38E-E8592FD6BD1A}"/>
              </a:ext>
            </a:extLst>
          </p:cNvPr>
          <p:cNvCxnSpPr>
            <a:cxnSpLocks/>
          </p:cNvCxnSpPr>
          <p:nvPr/>
        </p:nvCxnSpPr>
        <p:spPr>
          <a:xfrm flipH="1">
            <a:off x="2714502" y="4134910"/>
            <a:ext cx="4359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6C9F381F-6698-4226-BB81-91EBD4DAA014}"/>
              </a:ext>
            </a:extLst>
          </p:cNvPr>
          <p:cNvSpPr txBox="1"/>
          <p:nvPr/>
        </p:nvSpPr>
        <p:spPr>
          <a:xfrm>
            <a:off x="2243596" y="4287910"/>
            <a:ext cx="1373434" cy="8079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conf info</a:t>
            </a:r>
            <a:r>
              <a:rPr kumimoji="1" lang="zh-CN" altLang="en-US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传递</a:t>
            </a:r>
            <a:endParaRPr kumimoji="1" lang="en-US" altLang="zh-CN" sz="105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zh-CN" altLang="en-US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动态怎么做</a:t>
            </a:r>
            <a:endParaRPr kumimoji="1" lang="en-US" altLang="zh-CN" sz="105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zh-CN" altLang="en-US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借鉴已有的</a:t>
            </a:r>
            <a:r>
              <a:rPr kumimoji="1" lang="en-US" altLang="zh-CN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dspark</a:t>
            </a:r>
            <a:r>
              <a:rPr kumimoji="1" lang="zh-CN" altLang="en-US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如何传递</a:t>
            </a:r>
            <a:endParaRPr kumimoji="1" lang="en-US" altLang="zh-CN" sz="105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en-US" altLang="zh-CN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10.20</a:t>
            </a:r>
            <a:r>
              <a:rPr kumimoji="1" lang="zh-CN" altLang="en-US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 使用</a:t>
            </a:r>
            <a:r>
              <a:rPr kumimoji="1" lang="en-US" altLang="zh-CN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ECHO</a:t>
            </a:r>
            <a:endParaRPr kumimoji="1" lang="zh-CN" altLang="en-US" sz="105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5822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1CB3707-D220-48F5-82E4-3536659F9331}"/>
              </a:ext>
            </a:extLst>
          </p:cNvPr>
          <p:cNvSpPr/>
          <p:nvPr/>
        </p:nvSpPr>
        <p:spPr>
          <a:xfrm>
            <a:off x="3189189" y="3669029"/>
            <a:ext cx="1439056" cy="569627"/>
          </a:xfrm>
          <a:prstGeom prst="roundRect">
            <a:avLst/>
          </a:prstGeom>
          <a:solidFill>
            <a:srgbClr val="FFE5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speculator</a:t>
            </a:r>
          </a:p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(</a:t>
            </a:r>
            <a:r>
              <a:rPr lang="en-US" altLang="zh-CN" sz="1400" b="1" dirty="0">
                <a:solidFill>
                  <a:sysClr val="windowText" lastClr="000000"/>
                </a:solidFill>
              </a:rPr>
              <a:t>tree build</a:t>
            </a:r>
            <a:r>
              <a:rPr lang="en-US" altLang="zh-CN" sz="1400" dirty="0">
                <a:solidFill>
                  <a:sysClr val="windowText" lastClr="000000"/>
                </a:solidFill>
              </a:rPr>
              <a:t>)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670CAFF-FF52-490D-B9E7-A33D935F7637}"/>
              </a:ext>
            </a:extLst>
          </p:cNvPr>
          <p:cNvSpPr/>
          <p:nvPr/>
        </p:nvSpPr>
        <p:spPr>
          <a:xfrm>
            <a:off x="6377097" y="3669029"/>
            <a:ext cx="1439056" cy="5696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model execute</a:t>
            </a:r>
          </a:p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(</a:t>
            </a:r>
            <a:r>
              <a:rPr lang="en-US" altLang="zh-CN" sz="1400" b="1" dirty="0">
                <a:solidFill>
                  <a:srgbClr val="FF0000"/>
                </a:solidFill>
              </a:rPr>
              <a:t>mask build</a:t>
            </a:r>
            <a:r>
              <a:rPr lang="en-US" altLang="zh-CN" sz="1400" dirty="0">
                <a:solidFill>
                  <a:sysClr val="windowText" lastClr="000000"/>
                </a:solidFill>
              </a:rPr>
              <a:t>)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BE91748-7CA8-4BA5-BA6B-1665C1E775A9}"/>
              </a:ext>
            </a:extLst>
          </p:cNvPr>
          <p:cNvCxnSpPr/>
          <p:nvPr/>
        </p:nvCxnSpPr>
        <p:spPr>
          <a:xfrm>
            <a:off x="4628244" y="3953841"/>
            <a:ext cx="17488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6CEE49ED-A0FD-4B93-933D-7764002F61C1}"/>
              </a:ext>
            </a:extLst>
          </p:cNvPr>
          <p:cNvSpPr txBox="1"/>
          <p:nvPr/>
        </p:nvSpPr>
        <p:spPr>
          <a:xfrm>
            <a:off x="4926877" y="3973328"/>
            <a:ext cx="131164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propose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提供树形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draftToken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F4F0367B-D326-470E-88C3-20D5BDCC4FCF}"/>
              </a:ext>
            </a:extLst>
          </p:cNvPr>
          <p:cNvSpPr/>
          <p:nvPr/>
        </p:nvSpPr>
        <p:spPr>
          <a:xfrm>
            <a:off x="1256711" y="5568878"/>
            <a:ext cx="8940380" cy="4155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Attn Backend(dsa_v1, attention_v1..)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A21EB7F5-83C6-4229-BEF8-B6B15959344B}"/>
              </a:ext>
            </a:extLst>
          </p:cNvPr>
          <p:cNvCxnSpPr>
            <a:stCxn id="36" idx="2"/>
          </p:cNvCxnSpPr>
          <p:nvPr/>
        </p:nvCxnSpPr>
        <p:spPr>
          <a:xfrm>
            <a:off x="3908717" y="4238656"/>
            <a:ext cx="7496" cy="1351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D7B44FC4-FB15-4A22-B74E-04558C4FF325}"/>
              </a:ext>
            </a:extLst>
          </p:cNvPr>
          <p:cNvSpPr txBox="1"/>
          <p:nvPr/>
        </p:nvSpPr>
        <p:spPr>
          <a:xfrm>
            <a:off x="3959115" y="4592718"/>
            <a:ext cx="1016209" cy="8079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 model forward</a:t>
            </a:r>
          </a:p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dflash/dsparkdomino(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二阶修正 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qwen3)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6646577-79DB-4875-B876-65836014D4D2}"/>
              </a:ext>
            </a:extLst>
          </p:cNvPr>
          <p:cNvCxnSpPr/>
          <p:nvPr/>
        </p:nvCxnSpPr>
        <p:spPr>
          <a:xfrm>
            <a:off x="7115365" y="4238656"/>
            <a:ext cx="7496" cy="1351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2258D405-BE2F-4E07-A8F0-785DB09175B1}"/>
              </a:ext>
            </a:extLst>
          </p:cNvPr>
          <p:cNvSpPr txBox="1"/>
          <p:nvPr/>
        </p:nvSpPr>
        <p:spPr>
          <a:xfrm>
            <a:off x="7168394" y="4804534"/>
            <a:ext cx="985717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target model forward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0B1D396-D657-4DC3-AA4E-2D445C490A4F}"/>
              </a:ext>
            </a:extLst>
          </p:cNvPr>
          <p:cNvSpPr/>
          <p:nvPr/>
        </p:nvSpPr>
        <p:spPr>
          <a:xfrm>
            <a:off x="8343306" y="3669028"/>
            <a:ext cx="1846289" cy="569627"/>
          </a:xfrm>
          <a:prstGeom prst="roundRect">
            <a:avLst/>
          </a:prstGeom>
          <a:solidFill>
            <a:srgbClr val="FEE4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rejection sampler</a:t>
            </a:r>
          </a:p>
          <a:p>
            <a:pPr algn="ctr"/>
            <a:r>
              <a:rPr lang="en-US" altLang="zh-CN" sz="1400" b="1" dirty="0">
                <a:solidFill>
                  <a:sysClr val="windowText" lastClr="000000"/>
                </a:solidFill>
              </a:rPr>
              <a:t>(greedy verify)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954019DA-50A1-4A0C-A05B-5BC94C64A922}"/>
              </a:ext>
            </a:extLst>
          </p:cNvPr>
          <p:cNvCxnSpPr>
            <a:cxnSpLocks/>
            <a:stCxn id="37" idx="3"/>
            <a:endCxn id="50" idx="1"/>
          </p:cNvCxnSpPr>
          <p:nvPr/>
        </p:nvCxnSpPr>
        <p:spPr>
          <a:xfrm flipV="1">
            <a:off x="7816153" y="3953842"/>
            <a:ext cx="5271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5340DA71-CEB1-4310-843B-70812FA07E38}"/>
              </a:ext>
            </a:extLst>
          </p:cNvPr>
          <p:cNvSpPr/>
          <p:nvPr/>
        </p:nvSpPr>
        <p:spPr>
          <a:xfrm>
            <a:off x="1249215" y="3669029"/>
            <a:ext cx="1439056" cy="5696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scheduler</a:t>
            </a:r>
          </a:p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(</a:t>
            </a:r>
            <a:r>
              <a:rPr lang="zh-CN" altLang="en-US" sz="1400" b="1" dirty="0">
                <a:solidFill>
                  <a:srgbClr val="FF0000"/>
                </a:solidFill>
              </a:rPr>
              <a:t>动态</a:t>
            </a:r>
            <a:r>
              <a:rPr lang="en-US" altLang="zh-CN" sz="1400" dirty="0">
                <a:solidFill>
                  <a:sysClr val="windowText" lastClr="000000"/>
                </a:solidFill>
              </a:rPr>
              <a:t>)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7870C17D-45E0-42BF-B0BF-C58DBB849751}"/>
              </a:ext>
            </a:extLst>
          </p:cNvPr>
          <p:cNvCxnSpPr>
            <a:stCxn id="54" idx="3"/>
            <a:endCxn id="36" idx="1"/>
          </p:cNvCxnSpPr>
          <p:nvPr/>
        </p:nvCxnSpPr>
        <p:spPr>
          <a:xfrm>
            <a:off x="2688271" y="3953843"/>
            <a:ext cx="5009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7E6DF335-1DCB-4A24-AF61-01AC21514441}"/>
              </a:ext>
            </a:extLst>
          </p:cNvPr>
          <p:cNvCxnSpPr>
            <a:cxnSpLocks/>
            <a:stCxn id="50" idx="0"/>
            <a:endCxn id="54" idx="0"/>
          </p:cNvCxnSpPr>
          <p:nvPr/>
        </p:nvCxnSpPr>
        <p:spPr>
          <a:xfrm rot="16200000" flipH="1" flipV="1">
            <a:off x="5617596" y="20174"/>
            <a:ext cx="1" cy="7297708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2D804EB2-60D6-4E57-807E-6D102B1A1A14}"/>
              </a:ext>
            </a:extLst>
          </p:cNvPr>
          <p:cNvSpPr txBox="1"/>
          <p:nvPr/>
        </p:nvSpPr>
        <p:spPr>
          <a:xfrm>
            <a:off x="4347180" y="3205592"/>
            <a:ext cx="240157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accept draft token &amp; </a:t>
            </a:r>
            <a:r>
              <a:rPr kumimoji="1" lang="en-US" altLang="zh-CN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kv compact</a:t>
            </a:r>
            <a:endParaRPr kumimoji="1" lang="zh-CN" altLang="en-US" sz="105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C8EFB5-5629-423A-8785-2D0CABEDC48C}"/>
              </a:ext>
            </a:extLst>
          </p:cNvPr>
          <p:cNvSpPr/>
          <p:nvPr/>
        </p:nvSpPr>
        <p:spPr>
          <a:xfrm>
            <a:off x="7391403" y="979371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231DC2-58A9-4A2F-BBAA-8FBFEC5148B5}"/>
              </a:ext>
            </a:extLst>
          </p:cNvPr>
          <p:cNvSpPr/>
          <p:nvPr/>
        </p:nvSpPr>
        <p:spPr>
          <a:xfrm>
            <a:off x="7851101" y="979370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F74EFE-A577-4FC0-8E26-7A8DBF718F21}"/>
              </a:ext>
            </a:extLst>
          </p:cNvPr>
          <p:cNvSpPr/>
          <p:nvPr/>
        </p:nvSpPr>
        <p:spPr>
          <a:xfrm>
            <a:off x="8313297" y="979369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B28CF7-3172-4AA8-B982-5B4B9722F4A9}"/>
              </a:ext>
            </a:extLst>
          </p:cNvPr>
          <p:cNvSpPr/>
          <p:nvPr/>
        </p:nvSpPr>
        <p:spPr>
          <a:xfrm>
            <a:off x="8772995" y="979371"/>
            <a:ext cx="299803" cy="26982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1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F683AD2-12FA-400D-99E9-DA5E1FF1F1F3}"/>
              </a:ext>
            </a:extLst>
          </p:cNvPr>
          <p:cNvSpPr/>
          <p:nvPr/>
        </p:nvSpPr>
        <p:spPr>
          <a:xfrm>
            <a:off x="9292651" y="579633"/>
            <a:ext cx="299803" cy="26982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2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8D710F1-31B9-47B7-81A3-C53786C002A5}"/>
              </a:ext>
            </a:extLst>
          </p:cNvPr>
          <p:cNvSpPr/>
          <p:nvPr/>
        </p:nvSpPr>
        <p:spPr>
          <a:xfrm>
            <a:off x="9781070" y="379764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4C52120-D954-40C5-971B-C6FD30F5FF75}"/>
              </a:ext>
            </a:extLst>
          </p:cNvPr>
          <p:cNvSpPr/>
          <p:nvPr/>
        </p:nvSpPr>
        <p:spPr>
          <a:xfrm>
            <a:off x="9787322" y="779500"/>
            <a:ext cx="299803" cy="26982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4204B3B-6198-426A-A51A-643939262978}"/>
              </a:ext>
            </a:extLst>
          </p:cNvPr>
          <p:cNvSpPr/>
          <p:nvPr/>
        </p:nvSpPr>
        <p:spPr>
          <a:xfrm>
            <a:off x="9295149" y="1411585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3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B81127-2881-4664-9405-4C704D511E98}"/>
              </a:ext>
            </a:extLst>
          </p:cNvPr>
          <p:cNvSpPr/>
          <p:nvPr/>
        </p:nvSpPr>
        <p:spPr>
          <a:xfrm>
            <a:off x="9787322" y="1211716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24DB8F3-B167-417A-9624-E407CAAABD4C}"/>
              </a:ext>
            </a:extLst>
          </p:cNvPr>
          <p:cNvSpPr/>
          <p:nvPr/>
        </p:nvSpPr>
        <p:spPr>
          <a:xfrm>
            <a:off x="9789820" y="1611452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0B8A71-E835-4BED-BC25-F7CA9DFF8420}"/>
              </a:ext>
            </a:extLst>
          </p:cNvPr>
          <p:cNvSpPr/>
          <p:nvPr/>
        </p:nvSpPr>
        <p:spPr>
          <a:xfrm>
            <a:off x="10276997" y="379763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8D4BF3-E6DD-4E29-8825-114DE3E94D1B}"/>
              </a:ext>
            </a:extLst>
          </p:cNvPr>
          <p:cNvSpPr/>
          <p:nvPr/>
        </p:nvSpPr>
        <p:spPr>
          <a:xfrm>
            <a:off x="10284491" y="1611452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D69629-CC4D-4687-AF84-498761D3F1D3}"/>
              </a:ext>
            </a:extLst>
          </p:cNvPr>
          <p:cNvSpPr/>
          <p:nvPr/>
        </p:nvSpPr>
        <p:spPr>
          <a:xfrm>
            <a:off x="10779162" y="1611451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324C2B5-E386-4290-B4CC-1C56DDCF104E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 flipV="1">
            <a:off x="9072798" y="714545"/>
            <a:ext cx="219853" cy="3997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9B39057-35D0-4602-AF6B-76B867158172}"/>
              </a:ext>
            </a:extLst>
          </p:cNvPr>
          <p:cNvCxnSpPr>
            <a:stCxn id="20" idx="3"/>
            <a:endCxn id="24" idx="1"/>
          </p:cNvCxnSpPr>
          <p:nvPr/>
        </p:nvCxnSpPr>
        <p:spPr>
          <a:xfrm>
            <a:off x="9072798" y="1114283"/>
            <a:ext cx="222351" cy="4322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70125D1-D295-4887-9670-1EDDC4097345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 flipV="1">
            <a:off x="9592454" y="514676"/>
            <a:ext cx="188616" cy="1998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BBB38CC-3866-4E7D-A06A-7993C06F35AA}"/>
              </a:ext>
            </a:extLst>
          </p:cNvPr>
          <p:cNvCxnSpPr>
            <a:stCxn id="22" idx="3"/>
            <a:endCxn id="27" idx="1"/>
          </p:cNvCxnSpPr>
          <p:nvPr/>
        </p:nvCxnSpPr>
        <p:spPr>
          <a:xfrm flipV="1">
            <a:off x="10080873" y="514675"/>
            <a:ext cx="19612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FEF1EAB-7035-487A-9E5A-4F54610B1758}"/>
              </a:ext>
            </a:extLst>
          </p:cNvPr>
          <p:cNvCxnSpPr>
            <a:stCxn id="21" idx="3"/>
            <a:endCxn id="23" idx="1"/>
          </p:cNvCxnSpPr>
          <p:nvPr/>
        </p:nvCxnSpPr>
        <p:spPr>
          <a:xfrm>
            <a:off x="9592454" y="714545"/>
            <a:ext cx="194868" cy="199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C95F760-632F-4C37-8A84-C94ED49D82FF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 flipV="1">
            <a:off x="9594952" y="1346628"/>
            <a:ext cx="192370" cy="1998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CEBD29D-ED5F-4D91-9C60-88789FB90CBB}"/>
              </a:ext>
            </a:extLst>
          </p:cNvPr>
          <p:cNvCxnSpPr>
            <a:stCxn id="24" idx="3"/>
            <a:endCxn id="26" idx="1"/>
          </p:cNvCxnSpPr>
          <p:nvPr/>
        </p:nvCxnSpPr>
        <p:spPr>
          <a:xfrm>
            <a:off x="9594952" y="1546497"/>
            <a:ext cx="194868" cy="199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73C4143-B63E-4F35-867C-94360136CDCD}"/>
              </a:ext>
            </a:extLst>
          </p:cNvPr>
          <p:cNvCxnSpPr>
            <a:stCxn id="26" idx="3"/>
            <a:endCxn id="28" idx="1"/>
          </p:cNvCxnSpPr>
          <p:nvPr/>
        </p:nvCxnSpPr>
        <p:spPr>
          <a:xfrm>
            <a:off x="10089623" y="1746364"/>
            <a:ext cx="1948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F5B7251-10F5-4C67-B950-C2D09C7AB643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 flipV="1">
            <a:off x="10584294" y="1746363"/>
            <a:ext cx="19486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7BF286D2-CB32-4E74-8BAD-ED2BF7D8B672}"/>
              </a:ext>
            </a:extLst>
          </p:cNvPr>
          <p:cNvSpPr txBox="1"/>
          <p:nvPr/>
        </p:nvSpPr>
        <p:spPr>
          <a:xfrm>
            <a:off x="7229010" y="2048230"/>
            <a:ext cx="1277911" cy="161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computed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A04B471-F976-430C-B025-0469C509A20E}"/>
              </a:ext>
            </a:extLst>
          </p:cNvPr>
          <p:cNvSpPr/>
          <p:nvPr/>
        </p:nvSpPr>
        <p:spPr>
          <a:xfrm>
            <a:off x="6929207" y="979371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7CF510F-8145-4E70-BD7A-2CF9FBB016BA}"/>
              </a:ext>
            </a:extLst>
          </p:cNvPr>
          <p:cNvSpPr txBox="1"/>
          <p:nvPr/>
        </p:nvSpPr>
        <p:spPr>
          <a:xfrm>
            <a:off x="9156481" y="2089169"/>
            <a:ext cx="1277911" cy="161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 token(tree)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36F2F22-D6CB-4BD8-9674-2E0E5DE47474}"/>
              </a:ext>
            </a:extLst>
          </p:cNvPr>
          <p:cNvCxnSpPr/>
          <p:nvPr/>
        </p:nvCxnSpPr>
        <p:spPr>
          <a:xfrm>
            <a:off x="8679305" y="514676"/>
            <a:ext cx="0" cy="2214545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D4FFB508-C373-40C0-97A5-E91BE6E663C2}"/>
              </a:ext>
            </a:extLst>
          </p:cNvPr>
          <p:cNvSpPr/>
          <p:nvPr/>
        </p:nvSpPr>
        <p:spPr>
          <a:xfrm>
            <a:off x="1411608" y="974356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6250135-FADB-441D-9EA3-3DB642F15FEC}"/>
              </a:ext>
            </a:extLst>
          </p:cNvPr>
          <p:cNvSpPr/>
          <p:nvPr/>
        </p:nvSpPr>
        <p:spPr>
          <a:xfrm>
            <a:off x="1871306" y="974355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52D0D9A-2BBB-4F88-907A-3AB36B28BCDF}"/>
              </a:ext>
            </a:extLst>
          </p:cNvPr>
          <p:cNvSpPr/>
          <p:nvPr/>
        </p:nvSpPr>
        <p:spPr>
          <a:xfrm>
            <a:off x="2333502" y="974354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388808F-4C66-40A6-B215-D0ABFC7D40A3}"/>
              </a:ext>
            </a:extLst>
          </p:cNvPr>
          <p:cNvSpPr/>
          <p:nvPr/>
        </p:nvSpPr>
        <p:spPr>
          <a:xfrm>
            <a:off x="2793200" y="974356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6D94A3C-0876-4672-89C0-43D3C0ABEEEE}"/>
              </a:ext>
            </a:extLst>
          </p:cNvPr>
          <p:cNvSpPr/>
          <p:nvPr/>
        </p:nvSpPr>
        <p:spPr>
          <a:xfrm>
            <a:off x="3320679" y="974278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1903280-DD65-4205-867D-4B0CDCBE6DD8}"/>
              </a:ext>
            </a:extLst>
          </p:cNvPr>
          <p:cNvSpPr/>
          <p:nvPr/>
        </p:nvSpPr>
        <p:spPr>
          <a:xfrm>
            <a:off x="3789409" y="969102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D68AFD9-1F2B-484A-A8A3-6A5AEA0FC6F8}"/>
              </a:ext>
            </a:extLst>
          </p:cNvPr>
          <p:cNvSpPr/>
          <p:nvPr/>
        </p:nvSpPr>
        <p:spPr>
          <a:xfrm>
            <a:off x="4284080" y="968241"/>
            <a:ext cx="299803" cy="269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4FF560D-EC47-4DB9-AE96-41116C6B82B0}"/>
              </a:ext>
            </a:extLst>
          </p:cNvPr>
          <p:cNvSpPr txBox="1"/>
          <p:nvPr/>
        </p:nvSpPr>
        <p:spPr>
          <a:xfrm>
            <a:off x="1249215" y="2043215"/>
            <a:ext cx="1277911" cy="161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computed</a:t>
            </a:r>
            <a:r>
              <a:rPr kumimoji="1" lang="zh-CN" altLang="en-US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95F4A18-5C46-4F76-86E5-6CE8FE894B45}"/>
              </a:ext>
            </a:extLst>
          </p:cNvPr>
          <p:cNvSpPr/>
          <p:nvPr/>
        </p:nvSpPr>
        <p:spPr>
          <a:xfrm>
            <a:off x="949412" y="974356"/>
            <a:ext cx="299803" cy="269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9FF5F4B6-87DB-4575-863F-8FAB62E7D931}"/>
              </a:ext>
            </a:extLst>
          </p:cNvPr>
          <p:cNvSpPr txBox="1"/>
          <p:nvPr/>
        </p:nvSpPr>
        <p:spPr>
          <a:xfrm>
            <a:off x="3150453" y="2038199"/>
            <a:ext cx="1277911" cy="161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 token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A503BA6C-4566-4299-A589-DDE8290DC992}"/>
              </a:ext>
            </a:extLst>
          </p:cNvPr>
          <p:cNvCxnSpPr/>
          <p:nvPr/>
        </p:nvCxnSpPr>
        <p:spPr>
          <a:xfrm>
            <a:off x="2699510" y="509661"/>
            <a:ext cx="0" cy="2214545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箭头: 右 4">
            <a:extLst>
              <a:ext uri="{FF2B5EF4-FFF2-40B4-BE49-F238E27FC236}">
                <a16:creationId xmlns:a16="http://schemas.microsoft.com/office/drawing/2014/main" id="{5F1DC01C-81C4-4B0E-92CE-AE65FA4C7A9C}"/>
              </a:ext>
            </a:extLst>
          </p:cNvPr>
          <p:cNvSpPr/>
          <p:nvPr/>
        </p:nvSpPr>
        <p:spPr>
          <a:xfrm>
            <a:off x="5805907" y="858224"/>
            <a:ext cx="456542" cy="469692"/>
          </a:xfrm>
          <a:prstGeom prst="rightArrow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90BDC26-2BC5-4860-B249-A68DD35F5FE8}"/>
              </a:ext>
            </a:extLst>
          </p:cNvPr>
          <p:cNvCxnSpPr>
            <a:cxnSpLocks/>
          </p:cNvCxnSpPr>
          <p:nvPr/>
        </p:nvCxnSpPr>
        <p:spPr>
          <a:xfrm>
            <a:off x="127416" y="2872639"/>
            <a:ext cx="120693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2045F6F0-DCA5-4189-817F-3A2DD3C30100}"/>
              </a:ext>
            </a:extLst>
          </p:cNvPr>
          <p:cNvSpPr/>
          <p:nvPr/>
        </p:nvSpPr>
        <p:spPr>
          <a:xfrm>
            <a:off x="2795698" y="1457369"/>
            <a:ext cx="299803" cy="26982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8D114333-215F-4F52-9C75-AF1BAF26DB48}"/>
              </a:ext>
            </a:extLst>
          </p:cNvPr>
          <p:cNvSpPr/>
          <p:nvPr/>
        </p:nvSpPr>
        <p:spPr>
          <a:xfrm>
            <a:off x="3323177" y="1457291"/>
            <a:ext cx="299803" cy="26982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7EA8BD1-76BB-4DEA-9EBC-B6C986B8D679}"/>
              </a:ext>
            </a:extLst>
          </p:cNvPr>
          <p:cNvSpPr/>
          <p:nvPr/>
        </p:nvSpPr>
        <p:spPr>
          <a:xfrm>
            <a:off x="3791907" y="1452115"/>
            <a:ext cx="299803" cy="2698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AE47E86-423B-4FC5-9FD7-904ECBC6049A}"/>
              </a:ext>
            </a:extLst>
          </p:cNvPr>
          <p:cNvSpPr/>
          <p:nvPr/>
        </p:nvSpPr>
        <p:spPr>
          <a:xfrm>
            <a:off x="4286578" y="1451254"/>
            <a:ext cx="299803" cy="2698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18D4D975-A20C-484E-9C37-9F62ADB63F53}"/>
              </a:ext>
            </a:extLst>
          </p:cNvPr>
          <p:cNvSpPr/>
          <p:nvPr/>
        </p:nvSpPr>
        <p:spPr>
          <a:xfrm>
            <a:off x="4755308" y="1457369"/>
            <a:ext cx="299803" cy="2698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7E786F2-CD46-4ACD-BCBE-FE91A5CB468D}"/>
              </a:ext>
            </a:extLst>
          </p:cNvPr>
          <p:cNvSpPr txBox="1"/>
          <p:nvPr/>
        </p:nvSpPr>
        <p:spPr>
          <a:xfrm>
            <a:off x="4763156" y="2035251"/>
            <a:ext cx="1277911" cy="161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bonus token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61973D81-A98C-4849-909A-5624C2869279}"/>
              </a:ext>
            </a:extLst>
          </p:cNvPr>
          <p:cNvCxnSpPr/>
          <p:nvPr/>
        </p:nvCxnSpPr>
        <p:spPr>
          <a:xfrm>
            <a:off x="4654509" y="509661"/>
            <a:ext cx="0" cy="2214545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D5EC52-71CD-45D2-B3D8-C6BED010DDC9}"/>
              </a:ext>
            </a:extLst>
          </p:cNvPr>
          <p:cNvCxnSpPr>
            <a:stCxn id="58" idx="2"/>
            <a:endCxn id="88" idx="0"/>
          </p:cNvCxnSpPr>
          <p:nvPr/>
        </p:nvCxnSpPr>
        <p:spPr>
          <a:xfrm>
            <a:off x="2483404" y="1244177"/>
            <a:ext cx="462196" cy="213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8CFAE33-54D8-42F3-BDAD-FAF07E8E7F0D}"/>
              </a:ext>
            </a:extLst>
          </p:cNvPr>
          <p:cNvCxnSpPr>
            <a:stCxn id="59" idx="2"/>
            <a:endCxn id="89" idx="0"/>
          </p:cNvCxnSpPr>
          <p:nvPr/>
        </p:nvCxnSpPr>
        <p:spPr>
          <a:xfrm>
            <a:off x="2943102" y="1244179"/>
            <a:ext cx="529977" cy="2131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B017F50-BFCB-487E-9BE5-A9450583C20D}"/>
              </a:ext>
            </a:extLst>
          </p:cNvPr>
          <p:cNvCxnSpPr>
            <a:stCxn id="67" idx="2"/>
            <a:endCxn id="90" idx="0"/>
          </p:cNvCxnSpPr>
          <p:nvPr/>
        </p:nvCxnSpPr>
        <p:spPr>
          <a:xfrm>
            <a:off x="3470581" y="1244101"/>
            <a:ext cx="471228" cy="2080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0DE67A39-CB0F-4185-BC1E-51ADB1E8743B}"/>
              </a:ext>
            </a:extLst>
          </p:cNvPr>
          <p:cNvCxnSpPr>
            <a:stCxn id="69" idx="2"/>
            <a:endCxn id="91" idx="0"/>
          </p:cNvCxnSpPr>
          <p:nvPr/>
        </p:nvCxnSpPr>
        <p:spPr>
          <a:xfrm>
            <a:off x="3939311" y="1238925"/>
            <a:ext cx="497169" cy="2123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01B5F893-CBA7-4BD0-BF2A-9A93F8D29A47}"/>
              </a:ext>
            </a:extLst>
          </p:cNvPr>
          <p:cNvCxnSpPr>
            <a:stCxn id="70" idx="2"/>
            <a:endCxn id="92" idx="0"/>
          </p:cNvCxnSpPr>
          <p:nvPr/>
        </p:nvCxnSpPr>
        <p:spPr>
          <a:xfrm>
            <a:off x="4433982" y="1238064"/>
            <a:ext cx="471228" cy="2193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8D23FC8D-3789-4B12-B670-C76933D705A4}"/>
              </a:ext>
            </a:extLst>
          </p:cNvPr>
          <p:cNvSpPr txBox="1"/>
          <p:nvPr/>
        </p:nvSpPr>
        <p:spPr>
          <a:xfrm>
            <a:off x="6572996" y="3115919"/>
            <a:ext cx="193661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Tree kv compact</a:t>
            </a:r>
            <a:endParaRPr kumimoji="1"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D80385CA-ED97-4864-B38E-E8592FD6BD1A}"/>
              </a:ext>
            </a:extLst>
          </p:cNvPr>
          <p:cNvCxnSpPr>
            <a:cxnSpLocks/>
          </p:cNvCxnSpPr>
          <p:nvPr/>
        </p:nvCxnSpPr>
        <p:spPr>
          <a:xfrm flipH="1">
            <a:off x="2714502" y="4134910"/>
            <a:ext cx="4359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6C9F381F-6698-4226-BB81-91EBD4DAA014}"/>
              </a:ext>
            </a:extLst>
          </p:cNvPr>
          <p:cNvSpPr txBox="1"/>
          <p:nvPr/>
        </p:nvSpPr>
        <p:spPr>
          <a:xfrm>
            <a:off x="2243596" y="4287910"/>
            <a:ext cx="137343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ECHO</a:t>
            </a:r>
            <a:r>
              <a:rPr kumimoji="1" lang="zh-CN" altLang="en-US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动态更新树</a:t>
            </a:r>
            <a:r>
              <a:rPr kumimoji="1" lang="en-US" altLang="zh-CN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budget</a:t>
            </a:r>
            <a:endParaRPr kumimoji="1" lang="zh-CN" altLang="en-US" sz="105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4203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1">
            <a:extLst>
              <a:ext uri="{FF2B5EF4-FFF2-40B4-BE49-F238E27FC236}">
                <a16:creationId xmlns:a16="http://schemas.microsoft.com/office/drawing/2014/main" id="{2C6E52E5-3BC6-DC72-4ADF-9915C3A45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12" y="111411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7020E"/>
                </a:solidFill>
              </a:rPr>
              <a:t>VLLM-Ascend </a:t>
            </a:r>
            <a:r>
              <a:rPr lang="zh-CN" altLang="en-US" b="1" dirty="0">
                <a:solidFill>
                  <a:srgbClr val="C7020E"/>
                </a:solidFill>
              </a:rPr>
              <a:t>动态树投机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C0A9008-57B4-293A-E84A-958EA631D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733675"/>
              </p:ext>
            </p:extLst>
          </p:nvPr>
        </p:nvGraphicFramePr>
        <p:xfrm>
          <a:off x="831824" y="1397302"/>
          <a:ext cx="9572815" cy="32258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172016">
                  <a:extLst>
                    <a:ext uri="{9D8B030D-6E8A-4147-A177-3AD203B41FA5}">
                      <a16:colId xmlns:a16="http://schemas.microsoft.com/office/drawing/2014/main" val="173276438"/>
                    </a:ext>
                  </a:extLst>
                </a:gridCol>
                <a:gridCol w="2197784">
                  <a:extLst>
                    <a:ext uri="{9D8B030D-6E8A-4147-A177-3AD203B41FA5}">
                      <a16:colId xmlns:a16="http://schemas.microsoft.com/office/drawing/2014/main" val="3760303491"/>
                    </a:ext>
                  </a:extLst>
                </a:gridCol>
                <a:gridCol w="4203015">
                  <a:extLst>
                    <a:ext uri="{9D8B030D-6E8A-4147-A177-3AD203B41FA5}">
                      <a16:colId xmlns:a16="http://schemas.microsoft.com/office/drawing/2014/main" val="686171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chemeClr val="tx1"/>
                          </a:solidFill>
                        </a:rPr>
                        <a:t>涉及组件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chemeClr val="tx1"/>
                          </a:solidFill>
                        </a:rPr>
                        <a:t>上游组件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chemeClr val="tx1"/>
                          </a:solidFill>
                        </a:rPr>
                        <a:t>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163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AscendTreeSpeculator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AscendDflashSpeculator(Qwen3)</a:t>
                      </a:r>
                    </a:p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AscendDsparkSpeculator(DSV4)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提供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propose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操作，为上层组件返回树形结构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259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TreeBuilder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提供不同的建树方案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, priority\beam\prefix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等</a:t>
                      </a:r>
                      <a:endParaRPr lang="en-US" altLang="zh-C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7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TreeRejectionSampler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RejectionSampler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Sampler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流程中，验证草稿是否接受，支持多种不同的验证方法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: greedy\magicmtp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100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TreeKvCompact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树形草稿被接受后，存在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kv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空泡，对已分配的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kv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进行重排，未接受的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kv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空间可再次使用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77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DynamicTreePolicy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动态树投机策略，如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ECHO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513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AttentionMaskBuilder.get_tree_attention_mask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获取树形投机下的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mask, 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每个节点仅关注其祖先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373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Attention backend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不同模型的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attention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计算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9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5519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5C3476B-EE03-D81F-C68E-3B1D680288EB}"/>
              </a:ext>
            </a:extLst>
          </p:cNvPr>
          <p:cNvSpPr/>
          <p:nvPr/>
        </p:nvSpPr>
        <p:spPr>
          <a:xfrm>
            <a:off x="805755" y="1959775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C547E1-AF74-9BE2-7337-DEF19C312F8E}"/>
              </a:ext>
            </a:extLst>
          </p:cNvPr>
          <p:cNvSpPr/>
          <p:nvPr/>
        </p:nvSpPr>
        <p:spPr>
          <a:xfrm>
            <a:off x="651847" y="2152904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791A3BD7-6324-20FF-4ACD-CA9DCB623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12" y="111411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7020E"/>
                </a:solidFill>
              </a:rPr>
              <a:t>VLLM-Ascend </a:t>
            </a:r>
            <a:r>
              <a:rPr lang="zh-CN" altLang="en-US" b="1" dirty="0">
                <a:solidFill>
                  <a:srgbClr val="C7020E"/>
                </a:solidFill>
              </a:rPr>
              <a:t>动态树投机</a:t>
            </a:r>
            <a:r>
              <a:rPr lang="en-US" altLang="zh-CN" b="1" dirty="0">
                <a:solidFill>
                  <a:srgbClr val="C7020E"/>
                </a:solidFill>
              </a:rPr>
              <a:t>——TreeAscendSpeculator</a:t>
            </a:r>
            <a:endParaRPr lang="zh-CN" altLang="en-US" b="1" dirty="0">
              <a:solidFill>
                <a:srgbClr val="C7020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B92BCB-CB61-8B7F-7C4B-B01F84507DE6}"/>
              </a:ext>
            </a:extLst>
          </p:cNvPr>
          <p:cNvSpPr/>
          <p:nvPr/>
        </p:nvSpPr>
        <p:spPr>
          <a:xfrm>
            <a:off x="497940" y="1311229"/>
            <a:ext cx="4879816" cy="461439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BFB340-65A4-EE6E-392E-E8B6EE8743A0}"/>
              </a:ext>
            </a:extLst>
          </p:cNvPr>
          <p:cNvSpPr txBox="1"/>
          <p:nvPr/>
        </p:nvSpPr>
        <p:spPr>
          <a:xfrm>
            <a:off x="534154" y="134195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Scheduler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B0E686-550B-9BD0-F761-DE90BD479C97}"/>
              </a:ext>
            </a:extLst>
          </p:cNvPr>
          <p:cNvSpPr/>
          <p:nvPr/>
        </p:nvSpPr>
        <p:spPr>
          <a:xfrm>
            <a:off x="497940" y="2376362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7527CC-2784-4BF8-9322-0877EC258AEF}"/>
              </a:ext>
            </a:extLst>
          </p:cNvPr>
          <p:cNvSpPr txBox="1"/>
          <p:nvPr/>
        </p:nvSpPr>
        <p:spPr>
          <a:xfrm>
            <a:off x="534154" y="2421197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Worker..0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48FF51-182E-E60D-1DE2-1F2D910BA77A}"/>
              </a:ext>
            </a:extLst>
          </p:cNvPr>
          <p:cNvSpPr txBox="1"/>
          <p:nvPr/>
        </p:nvSpPr>
        <p:spPr>
          <a:xfrm>
            <a:off x="686554" y="220058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Worker..1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A7FF52-E1F2-EA9E-F205-2E297F1A37C4}"/>
              </a:ext>
            </a:extLst>
          </p:cNvPr>
          <p:cNvSpPr txBox="1"/>
          <p:nvPr/>
        </p:nvSpPr>
        <p:spPr>
          <a:xfrm>
            <a:off x="838955" y="198422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9886C3-A9F6-E8CC-549D-6AB0D1226CC0}"/>
              </a:ext>
            </a:extLst>
          </p:cNvPr>
          <p:cNvSpPr/>
          <p:nvPr/>
        </p:nvSpPr>
        <p:spPr>
          <a:xfrm>
            <a:off x="718995" y="2627615"/>
            <a:ext cx="4129890" cy="2459688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98BD8C-4048-9056-B412-FEB322D04481}"/>
              </a:ext>
            </a:extLst>
          </p:cNvPr>
          <p:cNvSpPr txBox="1"/>
          <p:nvPr/>
        </p:nvSpPr>
        <p:spPr>
          <a:xfrm>
            <a:off x="718995" y="2643352"/>
            <a:ext cx="14304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 Runner V2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E859B4-78BF-CB25-8844-B04AEF2EC069}"/>
              </a:ext>
            </a:extLst>
          </p:cNvPr>
          <p:cNvSpPr/>
          <p:nvPr/>
        </p:nvSpPr>
        <p:spPr>
          <a:xfrm>
            <a:off x="2845800" y="3834476"/>
            <a:ext cx="1865017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Tree KV Compact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7B5A0D-A734-DE44-3FEA-512DC45EB3ED}"/>
              </a:ext>
            </a:extLst>
          </p:cNvPr>
          <p:cNvSpPr/>
          <p:nvPr/>
        </p:nvSpPr>
        <p:spPr>
          <a:xfrm>
            <a:off x="838955" y="2946918"/>
            <a:ext cx="3871862" cy="7589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DF10074-CBD9-D77F-13F3-EEE603630615}"/>
              </a:ext>
            </a:extLst>
          </p:cNvPr>
          <p:cNvSpPr/>
          <p:nvPr/>
        </p:nvSpPr>
        <p:spPr>
          <a:xfrm>
            <a:off x="838955" y="3840726"/>
            <a:ext cx="1886138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Rejection Sampler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87E91ED-25E8-5EB4-B2A3-F4EE05C0EC6F}"/>
              </a:ext>
            </a:extLst>
          </p:cNvPr>
          <p:cNvSpPr/>
          <p:nvPr/>
        </p:nvSpPr>
        <p:spPr>
          <a:xfrm>
            <a:off x="838955" y="4297096"/>
            <a:ext cx="3868848" cy="65563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00B4E48-E4D7-6AA5-C54D-9CF94CB5CE63}"/>
              </a:ext>
            </a:extLst>
          </p:cNvPr>
          <p:cNvSpPr txBox="1"/>
          <p:nvPr/>
        </p:nvSpPr>
        <p:spPr>
          <a:xfrm>
            <a:off x="884221" y="4330142"/>
            <a:ext cx="126522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6DF94C7-8E05-07EF-B24F-81E0EA010546}"/>
              </a:ext>
            </a:extLst>
          </p:cNvPr>
          <p:cNvSpPr/>
          <p:nvPr/>
        </p:nvSpPr>
        <p:spPr>
          <a:xfrm>
            <a:off x="2206779" y="4582140"/>
            <a:ext cx="2406336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backend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7E502A-A8BA-CA03-0351-199037A12C60}"/>
              </a:ext>
            </a:extLst>
          </p:cNvPr>
          <p:cNvSpPr/>
          <p:nvPr/>
        </p:nvSpPr>
        <p:spPr>
          <a:xfrm>
            <a:off x="896290" y="4590435"/>
            <a:ext cx="1253154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Mask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BB137AE-CF09-4900-1D6A-AC4582828502}"/>
              </a:ext>
            </a:extLst>
          </p:cNvPr>
          <p:cNvSpPr txBox="1"/>
          <p:nvPr/>
        </p:nvSpPr>
        <p:spPr>
          <a:xfrm>
            <a:off x="908740" y="324297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Speculator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6635049-8771-98B6-D0CE-8269BEAA5497}"/>
              </a:ext>
            </a:extLst>
          </p:cNvPr>
          <p:cNvSpPr txBox="1"/>
          <p:nvPr/>
        </p:nvSpPr>
        <p:spPr>
          <a:xfrm>
            <a:off x="5839485" y="1313444"/>
            <a:ext cx="6138250" cy="36625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重载原生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vllm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propose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接口，接口返回一维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 token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，实际树形结构由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speculator.tree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维护，最终存储于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modelRunner.req_states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endParaRPr kumimoji="1" lang="en-US" altLang="zh-CN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根据不同模型，加载对应的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 backend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Qwen3 -&gt; Dflash,  dsv4-&gt; dspark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树形结构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TreeLayout</a:t>
            </a: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tokens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[R, budget] token id of non-root node i+1.</a:t>
            </a: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depths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[R, budget] depth of non-root node i+1 (from 1).</a:t>
            </a: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parents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[R, budget] parent node id of non-root node i+1.</a:t>
            </a: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nodes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[R] number of valid non-root nodes.</a:t>
            </a: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visibility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[R, budget, budget] whether non-root node i+1 can see non-root node j+1 (seeing root is implicit).</a:t>
            </a: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first_child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[R, budget+1] first child node id of node p; -1 if none.</a:t>
            </a: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next_sibling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[R, budget+1] next sibling node id of node c; -1 if none.</a:t>
            </a: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1B4AD2-4DF5-A8E1-6497-4A87EFB9AF0D}"/>
              </a:ext>
            </a:extLst>
          </p:cNvPr>
          <p:cNvSpPr/>
          <p:nvPr/>
        </p:nvSpPr>
        <p:spPr>
          <a:xfrm>
            <a:off x="3713053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Tree Builder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064124-A710-2401-0896-5780C3135A2B}"/>
              </a:ext>
            </a:extLst>
          </p:cNvPr>
          <p:cNvSpPr/>
          <p:nvPr/>
        </p:nvSpPr>
        <p:spPr>
          <a:xfrm>
            <a:off x="1672231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model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019EB7-83EC-6D5B-145A-CF58C9948A6B}"/>
              </a:ext>
            </a:extLst>
          </p:cNvPr>
          <p:cNvSpPr/>
          <p:nvPr/>
        </p:nvSpPr>
        <p:spPr>
          <a:xfrm>
            <a:off x="2714869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Tree</a:t>
            </a:r>
          </a:p>
        </p:txBody>
      </p:sp>
    </p:spTree>
    <p:extLst>
      <p:ext uri="{BB962C8B-B14F-4D97-AF65-F5344CB8AC3E}">
        <p14:creationId xmlns:p14="http://schemas.microsoft.com/office/powerpoint/2010/main" val="1324019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5C3476B-EE03-D81F-C68E-3B1D680288EB}"/>
              </a:ext>
            </a:extLst>
          </p:cNvPr>
          <p:cNvSpPr/>
          <p:nvPr/>
        </p:nvSpPr>
        <p:spPr>
          <a:xfrm>
            <a:off x="805755" y="1959775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C547E1-AF74-9BE2-7337-DEF19C312F8E}"/>
              </a:ext>
            </a:extLst>
          </p:cNvPr>
          <p:cNvSpPr/>
          <p:nvPr/>
        </p:nvSpPr>
        <p:spPr>
          <a:xfrm>
            <a:off x="651847" y="2152904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791A3BD7-6324-20FF-4ACD-CA9DCB623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12" y="111411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7020E"/>
                </a:solidFill>
              </a:rPr>
              <a:t>VLLM-Ascend </a:t>
            </a:r>
            <a:r>
              <a:rPr lang="zh-CN" altLang="en-US" b="1" dirty="0">
                <a:solidFill>
                  <a:srgbClr val="C7020E"/>
                </a:solidFill>
              </a:rPr>
              <a:t>动态树投机</a:t>
            </a:r>
            <a:r>
              <a:rPr lang="en-US" altLang="zh-CN" b="1" dirty="0">
                <a:solidFill>
                  <a:srgbClr val="C7020E"/>
                </a:solidFill>
              </a:rPr>
              <a:t>——TreeBuilder</a:t>
            </a:r>
            <a:endParaRPr lang="zh-CN" altLang="en-US" b="1" dirty="0">
              <a:solidFill>
                <a:srgbClr val="C7020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B92BCB-CB61-8B7F-7C4B-B01F84507DE6}"/>
              </a:ext>
            </a:extLst>
          </p:cNvPr>
          <p:cNvSpPr/>
          <p:nvPr/>
        </p:nvSpPr>
        <p:spPr>
          <a:xfrm>
            <a:off x="497940" y="1311229"/>
            <a:ext cx="4879816" cy="461439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BFB340-65A4-EE6E-392E-E8B6EE8743A0}"/>
              </a:ext>
            </a:extLst>
          </p:cNvPr>
          <p:cNvSpPr txBox="1"/>
          <p:nvPr/>
        </p:nvSpPr>
        <p:spPr>
          <a:xfrm>
            <a:off x="534154" y="134195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Scheduler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B0E686-550B-9BD0-F761-DE90BD479C97}"/>
              </a:ext>
            </a:extLst>
          </p:cNvPr>
          <p:cNvSpPr/>
          <p:nvPr/>
        </p:nvSpPr>
        <p:spPr>
          <a:xfrm>
            <a:off x="497940" y="2376362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7527CC-2784-4BF8-9322-0877EC258AEF}"/>
              </a:ext>
            </a:extLst>
          </p:cNvPr>
          <p:cNvSpPr txBox="1"/>
          <p:nvPr/>
        </p:nvSpPr>
        <p:spPr>
          <a:xfrm>
            <a:off x="534154" y="2421197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Worker..0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48FF51-182E-E60D-1DE2-1F2D910BA77A}"/>
              </a:ext>
            </a:extLst>
          </p:cNvPr>
          <p:cNvSpPr txBox="1"/>
          <p:nvPr/>
        </p:nvSpPr>
        <p:spPr>
          <a:xfrm>
            <a:off x="686554" y="220058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Worker..1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A7FF52-E1F2-EA9E-F205-2E297F1A37C4}"/>
              </a:ext>
            </a:extLst>
          </p:cNvPr>
          <p:cNvSpPr txBox="1"/>
          <p:nvPr/>
        </p:nvSpPr>
        <p:spPr>
          <a:xfrm>
            <a:off x="838955" y="198422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9886C3-A9F6-E8CC-549D-6AB0D1226CC0}"/>
              </a:ext>
            </a:extLst>
          </p:cNvPr>
          <p:cNvSpPr/>
          <p:nvPr/>
        </p:nvSpPr>
        <p:spPr>
          <a:xfrm>
            <a:off x="718995" y="2627615"/>
            <a:ext cx="4129890" cy="2459688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98BD8C-4048-9056-B412-FEB322D04481}"/>
              </a:ext>
            </a:extLst>
          </p:cNvPr>
          <p:cNvSpPr txBox="1"/>
          <p:nvPr/>
        </p:nvSpPr>
        <p:spPr>
          <a:xfrm>
            <a:off x="718995" y="2643352"/>
            <a:ext cx="14304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 Runner V2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E859B4-78BF-CB25-8844-B04AEF2EC069}"/>
              </a:ext>
            </a:extLst>
          </p:cNvPr>
          <p:cNvSpPr/>
          <p:nvPr/>
        </p:nvSpPr>
        <p:spPr>
          <a:xfrm>
            <a:off x="2845800" y="3834476"/>
            <a:ext cx="1865017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Tree KV Compact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7B5A0D-A734-DE44-3FEA-512DC45EB3ED}"/>
              </a:ext>
            </a:extLst>
          </p:cNvPr>
          <p:cNvSpPr/>
          <p:nvPr/>
        </p:nvSpPr>
        <p:spPr>
          <a:xfrm>
            <a:off x="838955" y="2946918"/>
            <a:ext cx="3871862" cy="758983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DF10074-CBD9-D77F-13F3-EEE603630615}"/>
              </a:ext>
            </a:extLst>
          </p:cNvPr>
          <p:cNvSpPr/>
          <p:nvPr/>
        </p:nvSpPr>
        <p:spPr>
          <a:xfrm>
            <a:off x="838955" y="3840726"/>
            <a:ext cx="1886138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Rejection Sampler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87E91ED-25E8-5EB4-B2A3-F4EE05C0EC6F}"/>
              </a:ext>
            </a:extLst>
          </p:cNvPr>
          <p:cNvSpPr/>
          <p:nvPr/>
        </p:nvSpPr>
        <p:spPr>
          <a:xfrm>
            <a:off x="838955" y="4297096"/>
            <a:ext cx="3868848" cy="65563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00B4E48-E4D7-6AA5-C54D-9CF94CB5CE63}"/>
              </a:ext>
            </a:extLst>
          </p:cNvPr>
          <p:cNvSpPr txBox="1"/>
          <p:nvPr/>
        </p:nvSpPr>
        <p:spPr>
          <a:xfrm>
            <a:off x="884221" y="4330142"/>
            <a:ext cx="126522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6DF94C7-8E05-07EF-B24F-81E0EA010546}"/>
              </a:ext>
            </a:extLst>
          </p:cNvPr>
          <p:cNvSpPr/>
          <p:nvPr/>
        </p:nvSpPr>
        <p:spPr>
          <a:xfrm>
            <a:off x="2206779" y="4582140"/>
            <a:ext cx="2406336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backend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7E502A-A8BA-CA03-0351-199037A12C60}"/>
              </a:ext>
            </a:extLst>
          </p:cNvPr>
          <p:cNvSpPr/>
          <p:nvPr/>
        </p:nvSpPr>
        <p:spPr>
          <a:xfrm>
            <a:off x="896290" y="4590435"/>
            <a:ext cx="1253154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Mask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BB137AE-CF09-4900-1D6A-AC4582828502}"/>
              </a:ext>
            </a:extLst>
          </p:cNvPr>
          <p:cNvSpPr txBox="1"/>
          <p:nvPr/>
        </p:nvSpPr>
        <p:spPr>
          <a:xfrm>
            <a:off x="908740" y="324297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Speculator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6635049-8771-98B6-D0CE-8269BEAA5497}"/>
              </a:ext>
            </a:extLst>
          </p:cNvPr>
          <p:cNvSpPr txBox="1"/>
          <p:nvPr/>
        </p:nvSpPr>
        <p:spPr>
          <a:xfrm>
            <a:off x="5839485" y="1313444"/>
            <a:ext cx="613825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支持不同的构树算法，根据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draftModel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返回数据为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speculator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生成树投机需要的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tree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现有算法：</a:t>
            </a: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Priority——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最佳优先（优先级队列）枚举</a:t>
            </a: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Beam——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逐层全局 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beam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PCTree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），带 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Markov 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修正</a:t>
            </a: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prefix——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DARTree 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式均匀宽度超树 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前缀闭包 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Top-B 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裁剪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DA8CE8-E4E8-E7C3-536D-C2C11BC5D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780" y="3162039"/>
            <a:ext cx="6311659" cy="296038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F63F684-2F91-238C-F6A6-AB446D43DD2E}"/>
              </a:ext>
            </a:extLst>
          </p:cNvPr>
          <p:cNvSpPr/>
          <p:nvPr/>
        </p:nvSpPr>
        <p:spPr>
          <a:xfrm>
            <a:off x="3713053" y="3162039"/>
            <a:ext cx="950615" cy="3215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Tree Builder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252783-8664-5EA1-387C-DCF849960671}"/>
              </a:ext>
            </a:extLst>
          </p:cNvPr>
          <p:cNvSpPr/>
          <p:nvPr/>
        </p:nvSpPr>
        <p:spPr>
          <a:xfrm>
            <a:off x="1672231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model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C9B6E7-881E-74A2-D2C1-98F5C53C7627}"/>
              </a:ext>
            </a:extLst>
          </p:cNvPr>
          <p:cNvSpPr/>
          <p:nvPr/>
        </p:nvSpPr>
        <p:spPr>
          <a:xfrm>
            <a:off x="2714869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Tree</a:t>
            </a:r>
          </a:p>
        </p:txBody>
      </p:sp>
    </p:spTree>
    <p:extLst>
      <p:ext uri="{BB962C8B-B14F-4D97-AF65-F5344CB8AC3E}">
        <p14:creationId xmlns:p14="http://schemas.microsoft.com/office/powerpoint/2010/main" val="113558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5C3476B-EE03-D81F-C68E-3B1D680288EB}"/>
              </a:ext>
            </a:extLst>
          </p:cNvPr>
          <p:cNvSpPr/>
          <p:nvPr/>
        </p:nvSpPr>
        <p:spPr>
          <a:xfrm>
            <a:off x="805755" y="1959775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C547E1-AF74-9BE2-7337-DEF19C312F8E}"/>
              </a:ext>
            </a:extLst>
          </p:cNvPr>
          <p:cNvSpPr/>
          <p:nvPr/>
        </p:nvSpPr>
        <p:spPr>
          <a:xfrm>
            <a:off x="651847" y="2152904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791A3BD7-6324-20FF-4ACD-CA9DCB623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12" y="111411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7020E"/>
                </a:solidFill>
              </a:rPr>
              <a:t>VLLM-Ascend </a:t>
            </a:r>
            <a:r>
              <a:rPr lang="zh-CN" altLang="en-US" b="1" dirty="0">
                <a:solidFill>
                  <a:srgbClr val="C7020E"/>
                </a:solidFill>
              </a:rPr>
              <a:t>动态树投机</a:t>
            </a:r>
            <a:r>
              <a:rPr lang="en-US" altLang="zh-CN" b="1" dirty="0">
                <a:solidFill>
                  <a:srgbClr val="C7020E"/>
                </a:solidFill>
              </a:rPr>
              <a:t>——Rejection Sampler</a:t>
            </a:r>
            <a:endParaRPr lang="zh-CN" altLang="en-US" b="1" dirty="0">
              <a:solidFill>
                <a:srgbClr val="C7020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B92BCB-CB61-8B7F-7C4B-B01F84507DE6}"/>
              </a:ext>
            </a:extLst>
          </p:cNvPr>
          <p:cNvSpPr/>
          <p:nvPr/>
        </p:nvSpPr>
        <p:spPr>
          <a:xfrm>
            <a:off x="497940" y="1311229"/>
            <a:ext cx="4879816" cy="461439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BFB340-65A4-EE6E-392E-E8B6EE8743A0}"/>
              </a:ext>
            </a:extLst>
          </p:cNvPr>
          <p:cNvSpPr txBox="1"/>
          <p:nvPr/>
        </p:nvSpPr>
        <p:spPr>
          <a:xfrm>
            <a:off x="534154" y="134195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Scheduler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B0E686-550B-9BD0-F761-DE90BD479C97}"/>
              </a:ext>
            </a:extLst>
          </p:cNvPr>
          <p:cNvSpPr/>
          <p:nvPr/>
        </p:nvSpPr>
        <p:spPr>
          <a:xfrm>
            <a:off x="497940" y="2376362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7527CC-2784-4BF8-9322-0877EC258AEF}"/>
              </a:ext>
            </a:extLst>
          </p:cNvPr>
          <p:cNvSpPr txBox="1"/>
          <p:nvPr/>
        </p:nvSpPr>
        <p:spPr>
          <a:xfrm>
            <a:off x="534154" y="2421197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Worker..0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48FF51-182E-E60D-1DE2-1F2D910BA77A}"/>
              </a:ext>
            </a:extLst>
          </p:cNvPr>
          <p:cNvSpPr txBox="1"/>
          <p:nvPr/>
        </p:nvSpPr>
        <p:spPr>
          <a:xfrm>
            <a:off x="686554" y="220058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Worker..1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A7FF52-E1F2-EA9E-F205-2E297F1A37C4}"/>
              </a:ext>
            </a:extLst>
          </p:cNvPr>
          <p:cNvSpPr txBox="1"/>
          <p:nvPr/>
        </p:nvSpPr>
        <p:spPr>
          <a:xfrm>
            <a:off x="838955" y="198422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9886C3-A9F6-E8CC-549D-6AB0D1226CC0}"/>
              </a:ext>
            </a:extLst>
          </p:cNvPr>
          <p:cNvSpPr/>
          <p:nvPr/>
        </p:nvSpPr>
        <p:spPr>
          <a:xfrm>
            <a:off x="718995" y="2627615"/>
            <a:ext cx="4129890" cy="2459688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98BD8C-4048-9056-B412-FEB322D04481}"/>
              </a:ext>
            </a:extLst>
          </p:cNvPr>
          <p:cNvSpPr txBox="1"/>
          <p:nvPr/>
        </p:nvSpPr>
        <p:spPr>
          <a:xfrm>
            <a:off x="718995" y="2643352"/>
            <a:ext cx="14304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 Runner V2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E859B4-78BF-CB25-8844-B04AEF2EC069}"/>
              </a:ext>
            </a:extLst>
          </p:cNvPr>
          <p:cNvSpPr/>
          <p:nvPr/>
        </p:nvSpPr>
        <p:spPr>
          <a:xfrm>
            <a:off x="2845800" y="3834476"/>
            <a:ext cx="1865017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Tree KV Compact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7B5A0D-A734-DE44-3FEA-512DC45EB3ED}"/>
              </a:ext>
            </a:extLst>
          </p:cNvPr>
          <p:cNvSpPr/>
          <p:nvPr/>
        </p:nvSpPr>
        <p:spPr>
          <a:xfrm>
            <a:off x="838955" y="2946918"/>
            <a:ext cx="3871862" cy="758983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DF10074-CBD9-D77F-13F3-EEE603630615}"/>
              </a:ext>
            </a:extLst>
          </p:cNvPr>
          <p:cNvSpPr/>
          <p:nvPr/>
        </p:nvSpPr>
        <p:spPr>
          <a:xfrm>
            <a:off x="838955" y="3840726"/>
            <a:ext cx="1886138" cy="3215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Rejection Sampler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87E91ED-25E8-5EB4-B2A3-F4EE05C0EC6F}"/>
              </a:ext>
            </a:extLst>
          </p:cNvPr>
          <p:cNvSpPr/>
          <p:nvPr/>
        </p:nvSpPr>
        <p:spPr>
          <a:xfrm>
            <a:off x="838955" y="4297096"/>
            <a:ext cx="3868848" cy="65563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00B4E48-E4D7-6AA5-C54D-9CF94CB5CE63}"/>
              </a:ext>
            </a:extLst>
          </p:cNvPr>
          <p:cNvSpPr txBox="1"/>
          <p:nvPr/>
        </p:nvSpPr>
        <p:spPr>
          <a:xfrm>
            <a:off x="884221" y="4330142"/>
            <a:ext cx="126522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6DF94C7-8E05-07EF-B24F-81E0EA010546}"/>
              </a:ext>
            </a:extLst>
          </p:cNvPr>
          <p:cNvSpPr/>
          <p:nvPr/>
        </p:nvSpPr>
        <p:spPr>
          <a:xfrm>
            <a:off x="2206779" y="4582140"/>
            <a:ext cx="2406336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backend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7E502A-A8BA-CA03-0351-199037A12C60}"/>
              </a:ext>
            </a:extLst>
          </p:cNvPr>
          <p:cNvSpPr/>
          <p:nvPr/>
        </p:nvSpPr>
        <p:spPr>
          <a:xfrm>
            <a:off x="896290" y="4590435"/>
            <a:ext cx="1253154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Mask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BB137AE-CF09-4900-1D6A-AC4582828502}"/>
              </a:ext>
            </a:extLst>
          </p:cNvPr>
          <p:cNvSpPr txBox="1"/>
          <p:nvPr/>
        </p:nvSpPr>
        <p:spPr>
          <a:xfrm>
            <a:off x="908740" y="324297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Speculator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D7262F5-B02F-431C-6047-31EC48F39E16}"/>
              </a:ext>
            </a:extLst>
          </p:cNvPr>
          <p:cNvSpPr txBox="1"/>
          <p:nvPr/>
        </p:nvSpPr>
        <p:spPr>
          <a:xfrm>
            <a:off x="5839485" y="1313444"/>
            <a:ext cx="613825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draftModel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targetModel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的对应输出决定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draft token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是否接受</a:t>
            </a:r>
            <a:endParaRPr kumimoji="1" lang="en-US" altLang="zh-CN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支持不同的验证算法</a:t>
            </a:r>
            <a:endParaRPr kumimoji="1" lang="en-US" altLang="zh-CN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现有算法：</a:t>
            </a: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Greedy——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自上而下的 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argmax 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逐 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匹配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magicmtp —— 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自下而上的 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MagicMTP 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块验证（残差分布）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BC0DAE2-094C-34A0-25F5-247A07D72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432" y="2840140"/>
            <a:ext cx="6303852" cy="297008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A658704-D5EB-0127-179A-C0AB3C62A84A}"/>
              </a:ext>
            </a:extLst>
          </p:cNvPr>
          <p:cNvSpPr/>
          <p:nvPr/>
        </p:nvSpPr>
        <p:spPr>
          <a:xfrm>
            <a:off x="3713053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Tree Builder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9A2671-E783-DFD3-7D39-A5DD085D5FDD}"/>
              </a:ext>
            </a:extLst>
          </p:cNvPr>
          <p:cNvSpPr/>
          <p:nvPr/>
        </p:nvSpPr>
        <p:spPr>
          <a:xfrm>
            <a:off x="1672231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model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D7035D-B601-C92D-2842-2A0E0BA4A708}"/>
              </a:ext>
            </a:extLst>
          </p:cNvPr>
          <p:cNvSpPr/>
          <p:nvPr/>
        </p:nvSpPr>
        <p:spPr>
          <a:xfrm>
            <a:off x="2714869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Tree</a:t>
            </a:r>
          </a:p>
        </p:txBody>
      </p:sp>
    </p:spTree>
    <p:extLst>
      <p:ext uri="{BB962C8B-B14F-4D97-AF65-F5344CB8AC3E}">
        <p14:creationId xmlns:p14="http://schemas.microsoft.com/office/powerpoint/2010/main" val="848008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5C3476B-EE03-D81F-C68E-3B1D680288EB}"/>
              </a:ext>
            </a:extLst>
          </p:cNvPr>
          <p:cNvSpPr/>
          <p:nvPr/>
        </p:nvSpPr>
        <p:spPr>
          <a:xfrm>
            <a:off x="805755" y="1959775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C547E1-AF74-9BE2-7337-DEF19C312F8E}"/>
              </a:ext>
            </a:extLst>
          </p:cNvPr>
          <p:cNvSpPr/>
          <p:nvPr/>
        </p:nvSpPr>
        <p:spPr>
          <a:xfrm>
            <a:off x="651847" y="2152904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791A3BD7-6324-20FF-4ACD-CA9DCB623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12" y="111411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7020E"/>
                </a:solidFill>
              </a:rPr>
              <a:t>VLLM-Ascend </a:t>
            </a:r>
            <a:r>
              <a:rPr lang="zh-CN" altLang="en-US" b="1" dirty="0">
                <a:solidFill>
                  <a:srgbClr val="C7020E"/>
                </a:solidFill>
              </a:rPr>
              <a:t>动态树投机</a:t>
            </a:r>
            <a:r>
              <a:rPr lang="en-US" altLang="zh-CN" b="1" dirty="0">
                <a:solidFill>
                  <a:srgbClr val="C7020E"/>
                </a:solidFill>
              </a:rPr>
              <a:t>——Tree KV Compact</a:t>
            </a:r>
            <a:endParaRPr lang="zh-CN" altLang="en-US" b="1" dirty="0">
              <a:solidFill>
                <a:srgbClr val="C7020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B92BCB-CB61-8B7F-7C4B-B01F84507DE6}"/>
              </a:ext>
            </a:extLst>
          </p:cNvPr>
          <p:cNvSpPr/>
          <p:nvPr/>
        </p:nvSpPr>
        <p:spPr>
          <a:xfrm>
            <a:off x="497940" y="1311229"/>
            <a:ext cx="4879816" cy="461439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BFB340-65A4-EE6E-392E-E8B6EE8743A0}"/>
              </a:ext>
            </a:extLst>
          </p:cNvPr>
          <p:cNvSpPr txBox="1"/>
          <p:nvPr/>
        </p:nvSpPr>
        <p:spPr>
          <a:xfrm>
            <a:off x="534154" y="134195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Scheduler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B0E686-550B-9BD0-F761-DE90BD479C97}"/>
              </a:ext>
            </a:extLst>
          </p:cNvPr>
          <p:cNvSpPr/>
          <p:nvPr/>
        </p:nvSpPr>
        <p:spPr>
          <a:xfrm>
            <a:off x="497940" y="2376362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7527CC-2784-4BF8-9322-0877EC258AEF}"/>
              </a:ext>
            </a:extLst>
          </p:cNvPr>
          <p:cNvSpPr txBox="1"/>
          <p:nvPr/>
        </p:nvSpPr>
        <p:spPr>
          <a:xfrm>
            <a:off x="534154" y="2421197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Worker..0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48FF51-182E-E60D-1DE2-1F2D910BA77A}"/>
              </a:ext>
            </a:extLst>
          </p:cNvPr>
          <p:cNvSpPr txBox="1"/>
          <p:nvPr/>
        </p:nvSpPr>
        <p:spPr>
          <a:xfrm>
            <a:off x="686554" y="220058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Worker..1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A7FF52-E1F2-EA9E-F205-2E297F1A37C4}"/>
              </a:ext>
            </a:extLst>
          </p:cNvPr>
          <p:cNvSpPr txBox="1"/>
          <p:nvPr/>
        </p:nvSpPr>
        <p:spPr>
          <a:xfrm>
            <a:off x="838955" y="198422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9886C3-A9F6-E8CC-549D-6AB0D1226CC0}"/>
              </a:ext>
            </a:extLst>
          </p:cNvPr>
          <p:cNvSpPr/>
          <p:nvPr/>
        </p:nvSpPr>
        <p:spPr>
          <a:xfrm>
            <a:off x="718995" y="2627615"/>
            <a:ext cx="4129890" cy="2459688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98BD8C-4048-9056-B412-FEB322D04481}"/>
              </a:ext>
            </a:extLst>
          </p:cNvPr>
          <p:cNvSpPr txBox="1"/>
          <p:nvPr/>
        </p:nvSpPr>
        <p:spPr>
          <a:xfrm>
            <a:off x="718995" y="2643352"/>
            <a:ext cx="14304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 Runner V2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E859B4-78BF-CB25-8844-B04AEF2EC069}"/>
              </a:ext>
            </a:extLst>
          </p:cNvPr>
          <p:cNvSpPr/>
          <p:nvPr/>
        </p:nvSpPr>
        <p:spPr>
          <a:xfrm>
            <a:off x="2845800" y="3834476"/>
            <a:ext cx="1865017" cy="3215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Tree KV Compact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7B5A0D-A734-DE44-3FEA-512DC45EB3ED}"/>
              </a:ext>
            </a:extLst>
          </p:cNvPr>
          <p:cNvSpPr/>
          <p:nvPr/>
        </p:nvSpPr>
        <p:spPr>
          <a:xfrm>
            <a:off x="838955" y="2946918"/>
            <a:ext cx="3871862" cy="758983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DF10074-CBD9-D77F-13F3-EEE603630615}"/>
              </a:ext>
            </a:extLst>
          </p:cNvPr>
          <p:cNvSpPr/>
          <p:nvPr/>
        </p:nvSpPr>
        <p:spPr>
          <a:xfrm>
            <a:off x="838955" y="3840726"/>
            <a:ext cx="1886138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Rejection Sampler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87E91ED-25E8-5EB4-B2A3-F4EE05C0EC6F}"/>
              </a:ext>
            </a:extLst>
          </p:cNvPr>
          <p:cNvSpPr/>
          <p:nvPr/>
        </p:nvSpPr>
        <p:spPr>
          <a:xfrm>
            <a:off x="838955" y="4297096"/>
            <a:ext cx="3868848" cy="65563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00B4E48-E4D7-6AA5-C54D-9CF94CB5CE63}"/>
              </a:ext>
            </a:extLst>
          </p:cNvPr>
          <p:cNvSpPr txBox="1"/>
          <p:nvPr/>
        </p:nvSpPr>
        <p:spPr>
          <a:xfrm>
            <a:off x="884221" y="4330142"/>
            <a:ext cx="126522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6DF94C7-8E05-07EF-B24F-81E0EA010546}"/>
              </a:ext>
            </a:extLst>
          </p:cNvPr>
          <p:cNvSpPr/>
          <p:nvPr/>
        </p:nvSpPr>
        <p:spPr>
          <a:xfrm>
            <a:off x="2206779" y="4582140"/>
            <a:ext cx="2406336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backend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7E502A-A8BA-CA03-0351-199037A12C60}"/>
              </a:ext>
            </a:extLst>
          </p:cNvPr>
          <p:cNvSpPr/>
          <p:nvPr/>
        </p:nvSpPr>
        <p:spPr>
          <a:xfrm>
            <a:off x="896290" y="4590435"/>
            <a:ext cx="1253154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Mask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E60864-708A-2393-B7D6-356D488CEDE8}"/>
              </a:ext>
            </a:extLst>
          </p:cNvPr>
          <p:cNvSpPr/>
          <p:nvPr/>
        </p:nvSpPr>
        <p:spPr>
          <a:xfrm>
            <a:off x="3713053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Tree Builder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BB137AE-CF09-4900-1D6A-AC4582828502}"/>
              </a:ext>
            </a:extLst>
          </p:cNvPr>
          <p:cNvSpPr txBox="1"/>
          <p:nvPr/>
        </p:nvSpPr>
        <p:spPr>
          <a:xfrm>
            <a:off x="908740" y="324297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Speculator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41F73D8-86CD-0EEA-5236-442CA20B04B5}"/>
              </a:ext>
            </a:extLst>
          </p:cNvPr>
          <p:cNvSpPr/>
          <p:nvPr/>
        </p:nvSpPr>
        <p:spPr>
          <a:xfrm>
            <a:off x="1672231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model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D7262F5-B02F-431C-6047-31EC48F39E16}"/>
              </a:ext>
            </a:extLst>
          </p:cNvPr>
          <p:cNvSpPr txBox="1"/>
          <p:nvPr/>
        </p:nvSpPr>
        <p:spPr>
          <a:xfrm>
            <a:off x="5839485" y="1313444"/>
            <a:ext cx="613825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功能：树投机验证后对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排布进行整理，把被接受路径的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从离散的树节点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slot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搬运到线性前缀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slot</a:t>
            </a:r>
          </a:p>
          <a:p>
            <a:pPr algn="l"/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核心流程</a:t>
            </a: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BC07DE-1D09-531E-1E66-0DFDF358B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432" y="2281375"/>
            <a:ext cx="6055494" cy="181020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B6B9585-9DDF-9B72-751C-D9317E5D562E}"/>
              </a:ext>
            </a:extLst>
          </p:cNvPr>
          <p:cNvSpPr/>
          <p:nvPr/>
        </p:nvSpPr>
        <p:spPr>
          <a:xfrm>
            <a:off x="2714869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Tree</a:t>
            </a:r>
          </a:p>
        </p:txBody>
      </p:sp>
    </p:spTree>
    <p:extLst>
      <p:ext uri="{BB962C8B-B14F-4D97-AF65-F5344CB8AC3E}">
        <p14:creationId xmlns:p14="http://schemas.microsoft.com/office/powerpoint/2010/main" val="1326727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5C3476B-EE03-D81F-C68E-3B1D680288EB}"/>
              </a:ext>
            </a:extLst>
          </p:cNvPr>
          <p:cNvSpPr/>
          <p:nvPr/>
        </p:nvSpPr>
        <p:spPr>
          <a:xfrm>
            <a:off x="805755" y="1959775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C547E1-AF74-9BE2-7337-DEF19C312F8E}"/>
              </a:ext>
            </a:extLst>
          </p:cNvPr>
          <p:cNvSpPr/>
          <p:nvPr/>
        </p:nvSpPr>
        <p:spPr>
          <a:xfrm>
            <a:off x="651847" y="2152904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791A3BD7-6324-20FF-4ACD-CA9DCB623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12" y="111411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7020E"/>
                </a:solidFill>
              </a:rPr>
              <a:t>VLLM-Ascend </a:t>
            </a:r>
            <a:r>
              <a:rPr lang="zh-CN" altLang="en-US" b="1" dirty="0">
                <a:solidFill>
                  <a:srgbClr val="C7020E"/>
                </a:solidFill>
              </a:rPr>
              <a:t>动态树投机</a:t>
            </a:r>
            <a:r>
              <a:rPr lang="en-US" altLang="zh-CN" b="1" dirty="0">
                <a:solidFill>
                  <a:srgbClr val="C7020E"/>
                </a:solidFill>
              </a:rPr>
              <a:t>——Attention mask</a:t>
            </a:r>
            <a:endParaRPr lang="zh-CN" altLang="en-US" b="1" dirty="0">
              <a:solidFill>
                <a:srgbClr val="C7020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B92BCB-CB61-8B7F-7C4B-B01F84507DE6}"/>
              </a:ext>
            </a:extLst>
          </p:cNvPr>
          <p:cNvSpPr/>
          <p:nvPr/>
        </p:nvSpPr>
        <p:spPr>
          <a:xfrm>
            <a:off x="497940" y="1311229"/>
            <a:ext cx="4879816" cy="461439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BFB340-65A4-EE6E-392E-E8B6EE8743A0}"/>
              </a:ext>
            </a:extLst>
          </p:cNvPr>
          <p:cNvSpPr txBox="1"/>
          <p:nvPr/>
        </p:nvSpPr>
        <p:spPr>
          <a:xfrm>
            <a:off x="534154" y="134195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Scheduler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B0E686-550B-9BD0-F761-DE90BD479C97}"/>
              </a:ext>
            </a:extLst>
          </p:cNvPr>
          <p:cNvSpPr/>
          <p:nvPr/>
        </p:nvSpPr>
        <p:spPr>
          <a:xfrm>
            <a:off x="497940" y="2376362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7527CC-2784-4BF8-9322-0877EC258AEF}"/>
              </a:ext>
            </a:extLst>
          </p:cNvPr>
          <p:cNvSpPr txBox="1"/>
          <p:nvPr/>
        </p:nvSpPr>
        <p:spPr>
          <a:xfrm>
            <a:off x="534154" y="2421197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Worker..0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48FF51-182E-E60D-1DE2-1F2D910BA77A}"/>
              </a:ext>
            </a:extLst>
          </p:cNvPr>
          <p:cNvSpPr txBox="1"/>
          <p:nvPr/>
        </p:nvSpPr>
        <p:spPr>
          <a:xfrm>
            <a:off x="686554" y="220058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Worker..1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A7FF52-E1F2-EA9E-F205-2E297F1A37C4}"/>
              </a:ext>
            </a:extLst>
          </p:cNvPr>
          <p:cNvSpPr txBox="1"/>
          <p:nvPr/>
        </p:nvSpPr>
        <p:spPr>
          <a:xfrm>
            <a:off x="838955" y="198422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9886C3-A9F6-E8CC-549D-6AB0D1226CC0}"/>
              </a:ext>
            </a:extLst>
          </p:cNvPr>
          <p:cNvSpPr/>
          <p:nvPr/>
        </p:nvSpPr>
        <p:spPr>
          <a:xfrm>
            <a:off x="718995" y="2627615"/>
            <a:ext cx="4129890" cy="2459688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98BD8C-4048-9056-B412-FEB322D04481}"/>
              </a:ext>
            </a:extLst>
          </p:cNvPr>
          <p:cNvSpPr txBox="1"/>
          <p:nvPr/>
        </p:nvSpPr>
        <p:spPr>
          <a:xfrm>
            <a:off x="718995" y="2643352"/>
            <a:ext cx="14304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 Runner V2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E859B4-78BF-CB25-8844-B04AEF2EC069}"/>
              </a:ext>
            </a:extLst>
          </p:cNvPr>
          <p:cNvSpPr/>
          <p:nvPr/>
        </p:nvSpPr>
        <p:spPr>
          <a:xfrm>
            <a:off x="2845800" y="3834476"/>
            <a:ext cx="1865017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Tree KV Compact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7B5A0D-A734-DE44-3FEA-512DC45EB3ED}"/>
              </a:ext>
            </a:extLst>
          </p:cNvPr>
          <p:cNvSpPr/>
          <p:nvPr/>
        </p:nvSpPr>
        <p:spPr>
          <a:xfrm>
            <a:off x="838955" y="2946918"/>
            <a:ext cx="3871862" cy="758983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DF10074-CBD9-D77F-13F3-EEE603630615}"/>
              </a:ext>
            </a:extLst>
          </p:cNvPr>
          <p:cNvSpPr/>
          <p:nvPr/>
        </p:nvSpPr>
        <p:spPr>
          <a:xfrm>
            <a:off x="838955" y="3840726"/>
            <a:ext cx="1886138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Rejection Sampler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87E91ED-25E8-5EB4-B2A3-F4EE05C0EC6F}"/>
              </a:ext>
            </a:extLst>
          </p:cNvPr>
          <p:cNvSpPr/>
          <p:nvPr/>
        </p:nvSpPr>
        <p:spPr>
          <a:xfrm>
            <a:off x="838955" y="4297096"/>
            <a:ext cx="3868848" cy="65563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00B4E48-E4D7-6AA5-C54D-9CF94CB5CE63}"/>
              </a:ext>
            </a:extLst>
          </p:cNvPr>
          <p:cNvSpPr txBox="1"/>
          <p:nvPr/>
        </p:nvSpPr>
        <p:spPr>
          <a:xfrm>
            <a:off x="884221" y="4330142"/>
            <a:ext cx="126522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6DF94C7-8E05-07EF-B24F-81E0EA010546}"/>
              </a:ext>
            </a:extLst>
          </p:cNvPr>
          <p:cNvSpPr/>
          <p:nvPr/>
        </p:nvSpPr>
        <p:spPr>
          <a:xfrm>
            <a:off x="2206779" y="4582140"/>
            <a:ext cx="2406336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backend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7E502A-A8BA-CA03-0351-199037A12C60}"/>
              </a:ext>
            </a:extLst>
          </p:cNvPr>
          <p:cNvSpPr/>
          <p:nvPr/>
        </p:nvSpPr>
        <p:spPr>
          <a:xfrm>
            <a:off x="896290" y="4590435"/>
            <a:ext cx="1253154" cy="3215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Mask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E60864-708A-2393-B7D6-356D488CEDE8}"/>
              </a:ext>
            </a:extLst>
          </p:cNvPr>
          <p:cNvSpPr/>
          <p:nvPr/>
        </p:nvSpPr>
        <p:spPr>
          <a:xfrm>
            <a:off x="3713053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Tree Builder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BB137AE-CF09-4900-1D6A-AC4582828502}"/>
              </a:ext>
            </a:extLst>
          </p:cNvPr>
          <p:cNvSpPr txBox="1"/>
          <p:nvPr/>
        </p:nvSpPr>
        <p:spPr>
          <a:xfrm>
            <a:off x="908740" y="324297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Speculator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41F73D8-86CD-0EEA-5236-442CA20B04B5}"/>
              </a:ext>
            </a:extLst>
          </p:cNvPr>
          <p:cNvSpPr/>
          <p:nvPr/>
        </p:nvSpPr>
        <p:spPr>
          <a:xfrm>
            <a:off x="1672231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model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D7262F5-B02F-431C-6047-31EC48F39E16}"/>
              </a:ext>
            </a:extLst>
          </p:cNvPr>
          <p:cNvSpPr txBox="1"/>
          <p:nvPr/>
        </p:nvSpPr>
        <p:spPr>
          <a:xfrm>
            <a:off x="5839485" y="1313444"/>
            <a:ext cx="613825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功能：为后端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计算提供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</a:p>
          <a:p>
            <a:pPr algn="l"/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树投机新增部分：根据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speculator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</a:t>
            </a:r>
            <a:r>
              <a:rPr kumimoji="1" lang="en-US" altLang="zh-CN" sz="1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tree_visibility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构建树投机需要的树形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，每个节点仅关注其祖先节点</a:t>
            </a: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计算流程：</a:t>
            </a: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6B9585-9DDF-9B72-751C-D9317E5D562E}"/>
              </a:ext>
            </a:extLst>
          </p:cNvPr>
          <p:cNvSpPr/>
          <p:nvPr/>
        </p:nvSpPr>
        <p:spPr>
          <a:xfrm>
            <a:off x="2714869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Tree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66E4264-810B-43A5-C9EF-9335C9AE2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432" y="3072736"/>
            <a:ext cx="6138250" cy="272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394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5C3476B-EE03-D81F-C68E-3B1D680288EB}"/>
              </a:ext>
            </a:extLst>
          </p:cNvPr>
          <p:cNvSpPr/>
          <p:nvPr/>
        </p:nvSpPr>
        <p:spPr>
          <a:xfrm>
            <a:off x="805755" y="1959775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C547E1-AF74-9BE2-7337-DEF19C312F8E}"/>
              </a:ext>
            </a:extLst>
          </p:cNvPr>
          <p:cNvSpPr/>
          <p:nvPr/>
        </p:nvSpPr>
        <p:spPr>
          <a:xfrm>
            <a:off x="651847" y="2152904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791A3BD7-6324-20FF-4ACD-CA9DCB623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12" y="111411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7020E"/>
                </a:solidFill>
              </a:rPr>
              <a:t>VLLM-Ascend </a:t>
            </a:r>
            <a:r>
              <a:rPr lang="zh-CN" altLang="en-US" b="1" dirty="0">
                <a:solidFill>
                  <a:srgbClr val="C7020E"/>
                </a:solidFill>
              </a:rPr>
              <a:t>动态树投机</a:t>
            </a:r>
            <a:r>
              <a:rPr lang="en-US" altLang="zh-CN" b="1" dirty="0">
                <a:solidFill>
                  <a:srgbClr val="C7020E"/>
                </a:solidFill>
              </a:rPr>
              <a:t>——Attention backend</a:t>
            </a:r>
            <a:endParaRPr lang="zh-CN" altLang="en-US" b="1" dirty="0">
              <a:solidFill>
                <a:srgbClr val="C7020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B92BCB-CB61-8B7F-7C4B-B01F84507DE6}"/>
              </a:ext>
            </a:extLst>
          </p:cNvPr>
          <p:cNvSpPr/>
          <p:nvPr/>
        </p:nvSpPr>
        <p:spPr>
          <a:xfrm>
            <a:off x="497940" y="1311229"/>
            <a:ext cx="4879816" cy="461439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BFB340-65A4-EE6E-392E-E8B6EE8743A0}"/>
              </a:ext>
            </a:extLst>
          </p:cNvPr>
          <p:cNvSpPr txBox="1"/>
          <p:nvPr/>
        </p:nvSpPr>
        <p:spPr>
          <a:xfrm>
            <a:off x="534154" y="134195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Scheduler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B0E686-550B-9BD0-F761-DE90BD479C97}"/>
              </a:ext>
            </a:extLst>
          </p:cNvPr>
          <p:cNvSpPr/>
          <p:nvPr/>
        </p:nvSpPr>
        <p:spPr>
          <a:xfrm>
            <a:off x="497940" y="2376362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7527CC-2784-4BF8-9322-0877EC258AEF}"/>
              </a:ext>
            </a:extLst>
          </p:cNvPr>
          <p:cNvSpPr txBox="1"/>
          <p:nvPr/>
        </p:nvSpPr>
        <p:spPr>
          <a:xfrm>
            <a:off x="534154" y="2421197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Worker..0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48FF51-182E-E60D-1DE2-1F2D910BA77A}"/>
              </a:ext>
            </a:extLst>
          </p:cNvPr>
          <p:cNvSpPr txBox="1"/>
          <p:nvPr/>
        </p:nvSpPr>
        <p:spPr>
          <a:xfrm>
            <a:off x="686554" y="220058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Worker..1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A7FF52-E1F2-EA9E-F205-2E297F1A37C4}"/>
              </a:ext>
            </a:extLst>
          </p:cNvPr>
          <p:cNvSpPr txBox="1"/>
          <p:nvPr/>
        </p:nvSpPr>
        <p:spPr>
          <a:xfrm>
            <a:off x="838955" y="198422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9886C3-A9F6-E8CC-549D-6AB0D1226CC0}"/>
              </a:ext>
            </a:extLst>
          </p:cNvPr>
          <p:cNvSpPr/>
          <p:nvPr/>
        </p:nvSpPr>
        <p:spPr>
          <a:xfrm>
            <a:off x="718995" y="2627615"/>
            <a:ext cx="4129890" cy="2459688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98BD8C-4048-9056-B412-FEB322D04481}"/>
              </a:ext>
            </a:extLst>
          </p:cNvPr>
          <p:cNvSpPr txBox="1"/>
          <p:nvPr/>
        </p:nvSpPr>
        <p:spPr>
          <a:xfrm>
            <a:off x="718995" y="2643352"/>
            <a:ext cx="14304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 Runner V2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E859B4-78BF-CB25-8844-B04AEF2EC069}"/>
              </a:ext>
            </a:extLst>
          </p:cNvPr>
          <p:cNvSpPr/>
          <p:nvPr/>
        </p:nvSpPr>
        <p:spPr>
          <a:xfrm>
            <a:off x="2845800" y="3834476"/>
            <a:ext cx="1865017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Tree KV Compact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7B5A0D-A734-DE44-3FEA-512DC45EB3ED}"/>
              </a:ext>
            </a:extLst>
          </p:cNvPr>
          <p:cNvSpPr/>
          <p:nvPr/>
        </p:nvSpPr>
        <p:spPr>
          <a:xfrm>
            <a:off x="838955" y="2946918"/>
            <a:ext cx="3871862" cy="758983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DF10074-CBD9-D77F-13F3-EEE603630615}"/>
              </a:ext>
            </a:extLst>
          </p:cNvPr>
          <p:cNvSpPr/>
          <p:nvPr/>
        </p:nvSpPr>
        <p:spPr>
          <a:xfrm>
            <a:off x="838955" y="3840726"/>
            <a:ext cx="1886138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Rejection Sampler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87E91ED-25E8-5EB4-B2A3-F4EE05C0EC6F}"/>
              </a:ext>
            </a:extLst>
          </p:cNvPr>
          <p:cNvSpPr/>
          <p:nvPr/>
        </p:nvSpPr>
        <p:spPr>
          <a:xfrm>
            <a:off x="838955" y="4297096"/>
            <a:ext cx="3868848" cy="65563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00B4E48-E4D7-6AA5-C54D-9CF94CB5CE63}"/>
              </a:ext>
            </a:extLst>
          </p:cNvPr>
          <p:cNvSpPr txBox="1"/>
          <p:nvPr/>
        </p:nvSpPr>
        <p:spPr>
          <a:xfrm>
            <a:off x="884221" y="4330142"/>
            <a:ext cx="126522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6DF94C7-8E05-07EF-B24F-81E0EA010546}"/>
              </a:ext>
            </a:extLst>
          </p:cNvPr>
          <p:cNvSpPr/>
          <p:nvPr/>
        </p:nvSpPr>
        <p:spPr>
          <a:xfrm>
            <a:off x="2206779" y="4582140"/>
            <a:ext cx="2406336" cy="3215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backend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7E502A-A8BA-CA03-0351-199037A12C60}"/>
              </a:ext>
            </a:extLst>
          </p:cNvPr>
          <p:cNvSpPr/>
          <p:nvPr/>
        </p:nvSpPr>
        <p:spPr>
          <a:xfrm>
            <a:off x="896290" y="4590435"/>
            <a:ext cx="1253154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Mask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E60864-708A-2393-B7D6-356D488CEDE8}"/>
              </a:ext>
            </a:extLst>
          </p:cNvPr>
          <p:cNvSpPr/>
          <p:nvPr/>
        </p:nvSpPr>
        <p:spPr>
          <a:xfrm>
            <a:off x="3713053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Tree Builder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BB137AE-CF09-4900-1D6A-AC4582828502}"/>
              </a:ext>
            </a:extLst>
          </p:cNvPr>
          <p:cNvSpPr txBox="1"/>
          <p:nvPr/>
        </p:nvSpPr>
        <p:spPr>
          <a:xfrm>
            <a:off x="908740" y="324297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Speculator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41F73D8-86CD-0EEA-5236-442CA20B04B5}"/>
              </a:ext>
            </a:extLst>
          </p:cNvPr>
          <p:cNvSpPr/>
          <p:nvPr/>
        </p:nvSpPr>
        <p:spPr>
          <a:xfrm>
            <a:off x="1672231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model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D7262F5-B02F-431C-6047-31EC48F39E16}"/>
              </a:ext>
            </a:extLst>
          </p:cNvPr>
          <p:cNvSpPr txBox="1"/>
          <p:nvPr/>
        </p:nvSpPr>
        <p:spPr>
          <a:xfrm>
            <a:off x="5839485" y="1313444"/>
            <a:ext cx="613825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功能：后端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现状不同的计算后端使用的算子不同，需要针对不同后端制定不同的实现策略</a:t>
            </a: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FIA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算子：传入树形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可以支持树形草稿计算，额外开销来自于全量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MLA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算子（以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DSV4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为例）：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compressor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会对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4/128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压缩，这个过程是线性的，并且算子本身不支持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，所以需要将树形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token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隔离为单请求下不同的链式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token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，逐一交给算子计算</a:t>
            </a:r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6B9585-9DDF-9B72-751C-D9317E5D562E}"/>
              </a:ext>
            </a:extLst>
          </p:cNvPr>
          <p:cNvSpPr/>
          <p:nvPr/>
        </p:nvSpPr>
        <p:spPr>
          <a:xfrm>
            <a:off x="2714869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Tree</a:t>
            </a:r>
          </a:p>
        </p:txBody>
      </p:sp>
    </p:spTree>
    <p:extLst>
      <p:ext uri="{BB962C8B-B14F-4D97-AF65-F5344CB8AC3E}">
        <p14:creationId xmlns:p14="http://schemas.microsoft.com/office/powerpoint/2010/main" val="1476927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5C3476B-EE03-D81F-C68E-3B1D680288EB}"/>
              </a:ext>
            </a:extLst>
          </p:cNvPr>
          <p:cNvSpPr/>
          <p:nvPr/>
        </p:nvSpPr>
        <p:spPr>
          <a:xfrm>
            <a:off x="805755" y="1959775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C547E1-AF74-9BE2-7337-DEF19C312F8E}"/>
              </a:ext>
            </a:extLst>
          </p:cNvPr>
          <p:cNvSpPr/>
          <p:nvPr/>
        </p:nvSpPr>
        <p:spPr>
          <a:xfrm>
            <a:off x="651847" y="2152904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791A3BD7-6324-20FF-4ACD-CA9DCB623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12" y="111411"/>
            <a:ext cx="10740640" cy="993400"/>
          </a:xfrm>
        </p:spPr>
        <p:txBody>
          <a:bodyPr/>
          <a:lstStyle/>
          <a:p>
            <a:r>
              <a:rPr lang="en-US" altLang="zh-CN" b="1" dirty="0">
                <a:solidFill>
                  <a:srgbClr val="C7020E"/>
                </a:solidFill>
              </a:rPr>
              <a:t>VLLM-Ascend </a:t>
            </a:r>
            <a:r>
              <a:rPr lang="zh-CN" altLang="en-US" b="1" dirty="0">
                <a:solidFill>
                  <a:srgbClr val="C7020E"/>
                </a:solidFill>
              </a:rPr>
              <a:t>动态树投机</a:t>
            </a:r>
            <a:r>
              <a:rPr lang="en-US" altLang="zh-CN" b="1" dirty="0">
                <a:solidFill>
                  <a:srgbClr val="C7020E"/>
                </a:solidFill>
              </a:rPr>
              <a:t>——Dynamic Tree(TODO)</a:t>
            </a:r>
            <a:endParaRPr lang="zh-CN" altLang="en-US" b="1" dirty="0">
              <a:solidFill>
                <a:srgbClr val="C7020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B92BCB-CB61-8B7F-7C4B-B01F84507DE6}"/>
              </a:ext>
            </a:extLst>
          </p:cNvPr>
          <p:cNvSpPr/>
          <p:nvPr/>
        </p:nvSpPr>
        <p:spPr>
          <a:xfrm>
            <a:off x="497940" y="1311229"/>
            <a:ext cx="4879816" cy="461439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BFB340-65A4-EE6E-392E-E8B6EE8743A0}"/>
              </a:ext>
            </a:extLst>
          </p:cNvPr>
          <p:cNvSpPr txBox="1"/>
          <p:nvPr/>
        </p:nvSpPr>
        <p:spPr>
          <a:xfrm>
            <a:off x="534154" y="134195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Scheduler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B0E686-550B-9BD0-F761-DE90BD479C97}"/>
              </a:ext>
            </a:extLst>
          </p:cNvPr>
          <p:cNvSpPr/>
          <p:nvPr/>
        </p:nvSpPr>
        <p:spPr>
          <a:xfrm>
            <a:off x="497940" y="2376362"/>
            <a:ext cx="4572001" cy="2889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7527CC-2784-4BF8-9322-0877EC258AEF}"/>
              </a:ext>
            </a:extLst>
          </p:cNvPr>
          <p:cNvSpPr txBox="1"/>
          <p:nvPr/>
        </p:nvSpPr>
        <p:spPr>
          <a:xfrm>
            <a:off x="534154" y="2421197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Worker..0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48FF51-182E-E60D-1DE2-1F2D910BA77A}"/>
              </a:ext>
            </a:extLst>
          </p:cNvPr>
          <p:cNvSpPr txBox="1"/>
          <p:nvPr/>
        </p:nvSpPr>
        <p:spPr>
          <a:xfrm>
            <a:off x="686554" y="220058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Worker..1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A7FF52-E1F2-EA9E-F205-2E297F1A37C4}"/>
              </a:ext>
            </a:extLst>
          </p:cNvPr>
          <p:cNvSpPr txBox="1"/>
          <p:nvPr/>
        </p:nvSpPr>
        <p:spPr>
          <a:xfrm>
            <a:off x="838955" y="1984223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Worker..N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9886C3-A9F6-E8CC-549D-6AB0D1226CC0}"/>
              </a:ext>
            </a:extLst>
          </p:cNvPr>
          <p:cNvSpPr/>
          <p:nvPr/>
        </p:nvSpPr>
        <p:spPr>
          <a:xfrm>
            <a:off x="718995" y="2627615"/>
            <a:ext cx="4129890" cy="2459688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98BD8C-4048-9056-B412-FEB322D04481}"/>
              </a:ext>
            </a:extLst>
          </p:cNvPr>
          <p:cNvSpPr txBox="1"/>
          <p:nvPr/>
        </p:nvSpPr>
        <p:spPr>
          <a:xfrm>
            <a:off x="718995" y="2643352"/>
            <a:ext cx="14304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 Runner V2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E859B4-78BF-CB25-8844-B04AEF2EC069}"/>
              </a:ext>
            </a:extLst>
          </p:cNvPr>
          <p:cNvSpPr/>
          <p:nvPr/>
        </p:nvSpPr>
        <p:spPr>
          <a:xfrm>
            <a:off x="2845800" y="3834476"/>
            <a:ext cx="1865017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Tree KV Compact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7B5A0D-A734-DE44-3FEA-512DC45EB3ED}"/>
              </a:ext>
            </a:extLst>
          </p:cNvPr>
          <p:cNvSpPr/>
          <p:nvPr/>
        </p:nvSpPr>
        <p:spPr>
          <a:xfrm>
            <a:off x="838955" y="2946918"/>
            <a:ext cx="3871862" cy="758983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DF10074-CBD9-D77F-13F3-EEE603630615}"/>
              </a:ext>
            </a:extLst>
          </p:cNvPr>
          <p:cNvSpPr/>
          <p:nvPr/>
        </p:nvSpPr>
        <p:spPr>
          <a:xfrm>
            <a:off x="838955" y="3840726"/>
            <a:ext cx="1886138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Rejection Sampler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87E91ED-25E8-5EB4-B2A3-F4EE05C0EC6F}"/>
              </a:ext>
            </a:extLst>
          </p:cNvPr>
          <p:cNvSpPr/>
          <p:nvPr/>
        </p:nvSpPr>
        <p:spPr>
          <a:xfrm>
            <a:off x="838955" y="4297096"/>
            <a:ext cx="3868848" cy="65563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00B4E48-E4D7-6AA5-C54D-9CF94CB5CE63}"/>
              </a:ext>
            </a:extLst>
          </p:cNvPr>
          <p:cNvSpPr txBox="1"/>
          <p:nvPr/>
        </p:nvSpPr>
        <p:spPr>
          <a:xfrm>
            <a:off x="884221" y="4330142"/>
            <a:ext cx="126522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6DF94C7-8E05-07EF-B24F-81E0EA010546}"/>
              </a:ext>
            </a:extLst>
          </p:cNvPr>
          <p:cNvSpPr/>
          <p:nvPr/>
        </p:nvSpPr>
        <p:spPr>
          <a:xfrm>
            <a:off x="2206779" y="4582140"/>
            <a:ext cx="2406336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backend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7E502A-A8BA-CA03-0351-199037A12C60}"/>
              </a:ext>
            </a:extLst>
          </p:cNvPr>
          <p:cNvSpPr/>
          <p:nvPr/>
        </p:nvSpPr>
        <p:spPr>
          <a:xfrm>
            <a:off x="896290" y="4590435"/>
            <a:ext cx="1253154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Mask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E60864-708A-2393-B7D6-356D488CEDE8}"/>
              </a:ext>
            </a:extLst>
          </p:cNvPr>
          <p:cNvSpPr/>
          <p:nvPr/>
        </p:nvSpPr>
        <p:spPr>
          <a:xfrm>
            <a:off x="3713053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Tree Builder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BB137AE-CF09-4900-1D6A-AC4582828502}"/>
              </a:ext>
            </a:extLst>
          </p:cNvPr>
          <p:cNvSpPr txBox="1"/>
          <p:nvPr/>
        </p:nvSpPr>
        <p:spPr>
          <a:xfrm>
            <a:off x="908740" y="3242974"/>
            <a:ext cx="9506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Speculator</a:t>
            </a:r>
            <a:endParaRPr kumimoji="1" lang="zh-CN" altLang="en-US" sz="105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41F73D8-86CD-0EEA-5236-442CA20B04B5}"/>
              </a:ext>
            </a:extLst>
          </p:cNvPr>
          <p:cNvSpPr/>
          <p:nvPr/>
        </p:nvSpPr>
        <p:spPr>
          <a:xfrm>
            <a:off x="1672231" y="3162039"/>
            <a:ext cx="950615" cy="32154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model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D7262F5-B02F-431C-6047-31EC48F39E16}"/>
              </a:ext>
            </a:extLst>
          </p:cNvPr>
          <p:cNvSpPr txBox="1"/>
          <p:nvPr/>
        </p:nvSpPr>
        <p:spPr>
          <a:xfrm>
            <a:off x="5839485" y="1313444"/>
            <a:ext cx="613825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功能：动态调整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tree budget</a:t>
            </a:r>
          </a:p>
          <a:p>
            <a:pPr algn="l"/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6B9585-9DDF-9B72-751C-D9317E5D562E}"/>
              </a:ext>
            </a:extLst>
          </p:cNvPr>
          <p:cNvSpPr/>
          <p:nvPr/>
        </p:nvSpPr>
        <p:spPr>
          <a:xfrm>
            <a:off x="2714869" y="3162039"/>
            <a:ext cx="950615" cy="3215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Tree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F529D1-51C3-B334-A164-636DFDB4A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854" y="1849589"/>
            <a:ext cx="6208831" cy="345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613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1">
            <a:extLst>
              <a:ext uri="{FF2B5EF4-FFF2-40B4-BE49-F238E27FC236}">
                <a16:creationId xmlns:a16="http://schemas.microsoft.com/office/drawing/2014/main" id="{47E0A885-8EA5-CE2A-5FF4-2FDA4BD59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12" y="111411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7020E"/>
                </a:solidFill>
              </a:rPr>
              <a:t>树投机动态性相关研究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24C499-7663-6F45-14D7-C2B35C017F8D}"/>
              </a:ext>
            </a:extLst>
          </p:cNvPr>
          <p:cNvSpPr txBox="1"/>
          <p:nvPr/>
        </p:nvSpPr>
        <p:spPr>
          <a:xfrm>
            <a:off x="247912" y="1348966"/>
            <a:ext cx="11539700" cy="32316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ASDT(Adaptive Speculative Decoding Tree):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通过观察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级别的接受度反馈，动态调整树的深度和宽度。如果发现最近的生成接受率很高，它会扩大树预算以追求更大的加速比；反之则收缩树预算以避免无效的计算开销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1" u="none" strike="noStrike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TALON (Confidence-Aware Speculative Decoding with Adaptive Token Trees)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TALON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指出固定宽高的树无法适应不同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的预测难度 。它通过评估草稿模型的</a:t>
            </a:r>
            <a:r>
              <a:rPr lang="zh-CN" altLang="en-US" sz="1400" b="1" u="none" strike="noStrike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置信度（</a:t>
            </a:r>
            <a:r>
              <a:rPr lang="en-US" altLang="zh-CN" sz="1400" b="1" u="none" strike="noStrike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Confidence</a:t>
            </a:r>
            <a:r>
              <a:rPr lang="zh-CN" altLang="en-US" sz="1400" b="1" u="none" strike="noStrike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，在遇到难以预测的复杂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时提早终止树的扩展（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Early Stop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），而在遇到简单、确定性高的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时拉长树的生成。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1" u="none" strike="noStrike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Dynamic Tree Speculative Decoding (Entropy-informed)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：该研究使用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Logit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熵（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Entropy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）作为模型不确定性的代指。高熵代表草稿模型自己也很迷茫，此时算法会动态调整树的形状，在分支处多分配采样预算，以增加匹配到大模型正确路径的概率。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1" u="none" strike="noStrike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BASTION (Budget-Aware Speculative Decoding)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：它将树的生长变成了一个优化问题 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BASTION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内置了一个</a:t>
            </a:r>
            <a:r>
              <a:rPr lang="zh-CN" altLang="en-US" sz="1400" b="1" u="none" strike="noStrike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运行时延迟评估器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（基于硬件的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Roofline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模型）。它采用“最佳优先扩展（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Best-first Expansion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）”策略增长树，直到判定“继续增加树节点带来的期望收益”不再大于“硬件验证这些节点增加的时间开销”时，就会果断停止分配预算 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3C810A9-8102-930A-285D-BA26FFE54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2" y="4580620"/>
            <a:ext cx="673417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34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15742</TotalTime>
  <Words>1913</Words>
  <Application>Microsoft Office PowerPoint</Application>
  <PresentationFormat>自定义</PresentationFormat>
  <Paragraphs>329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.AppleSystemUIFont</vt:lpstr>
      <vt:lpstr>微软雅黑</vt:lpstr>
      <vt:lpstr>微软雅黑</vt:lpstr>
      <vt:lpstr>Arial</vt:lpstr>
      <vt:lpstr>Calibri</vt:lpstr>
      <vt:lpstr>封面页_图片版 </vt:lpstr>
      <vt:lpstr>目录页</vt:lpstr>
      <vt:lpstr>章节页</vt:lpstr>
      <vt:lpstr>结束页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maliang (R)</dc:creator>
  <cp:lastModifiedBy>maliang (R)</cp:lastModifiedBy>
  <cp:revision>250</cp:revision>
  <dcterms:created xsi:type="dcterms:W3CDTF">2020-08-28T08:44:19Z</dcterms:created>
  <dcterms:modified xsi:type="dcterms:W3CDTF">2026-10-23T07:36:17Z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